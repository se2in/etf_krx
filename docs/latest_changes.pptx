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EUGENE SECURITIES | ACTIVE ETF RADAR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ETF 자금의 흔적, 여기서 갈렸습니다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2026-04-22 KRX PDF 보유종목 변화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572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Panel 7"/>
          <p:cNvSpPr/>
          <p:nvPr/>
        </p:nvSpPr>
        <p:spPr>
          <a:xfrm>
            <a:off x="4572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6286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대상 ETF</a:t>
            </a:r>
            <a:endParaRPr lang="ko-KR" sz="1200"/>
          </a:p>
        </p:txBody>
      </p:sp>
      <p:sp>
        <p:nvSpPr>
          <p:cNvPr id="9" name="Text 9"/>
          <p:cNvSpPr txBox="1"/>
          <p:nvPr/>
        </p:nvSpPr>
        <p:spPr>
          <a:xfrm>
            <a:off x="6286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215</a:t>
            </a:r>
            <a:endParaRPr lang="ko-KR" sz="3000"/>
          </a:p>
        </p:txBody>
      </p:sp>
      <p:sp>
        <p:nvSpPr>
          <p:cNvPr id="10" name="Panel 10"/>
          <p:cNvSpPr/>
          <p:nvPr/>
        </p:nvSpPr>
        <p:spPr>
          <a:xfrm>
            <a:off x="27813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Panel 11"/>
          <p:cNvSpPr/>
          <p:nvPr/>
        </p:nvSpPr>
        <p:spPr>
          <a:xfrm>
            <a:off x="2781300" y="1809750"/>
            <a:ext cx="57150" cy="914400"/>
          </a:xfrm>
          <a:prstGeom prst="rect">
            <a:avLst/>
          </a:prstGeom>
          <a:solidFill>
            <a:srgbClr val="3DD6E8"/>
          </a:solidFill>
          <a:ln w="9525">
            <a:solidFill>
              <a:srgbClr val="3DD6E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29527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변화 ETF</a:t>
            </a:r>
            <a:endParaRPr lang="ko-KR" sz="1200"/>
          </a:p>
        </p:txBody>
      </p:sp>
      <p:sp>
        <p:nvSpPr>
          <p:cNvPr id="13" name="Text 13"/>
          <p:cNvSpPr txBox="1"/>
          <p:nvPr/>
        </p:nvSpPr>
        <p:spPr>
          <a:xfrm>
            <a:off x="29527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72</a:t>
            </a:r>
            <a:endParaRPr lang="ko-KR" sz="3000"/>
          </a:p>
        </p:txBody>
      </p:sp>
      <p:sp>
        <p:nvSpPr>
          <p:cNvPr id="14" name="Panel 14"/>
          <p:cNvSpPr/>
          <p:nvPr/>
        </p:nvSpPr>
        <p:spPr>
          <a:xfrm>
            <a:off x="51054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Panel 15"/>
          <p:cNvSpPr/>
          <p:nvPr/>
        </p:nvSpPr>
        <p:spPr>
          <a:xfrm>
            <a:off x="51054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2768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전체 변화</a:t>
            </a:r>
            <a:endParaRPr lang="ko-KR" sz="1200"/>
          </a:p>
        </p:txBody>
      </p:sp>
      <p:sp>
        <p:nvSpPr>
          <p:cNvPr id="17" name="Text 17"/>
          <p:cNvSpPr txBox="1"/>
          <p:nvPr/>
        </p:nvSpPr>
        <p:spPr>
          <a:xfrm>
            <a:off x="52768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994</a:t>
            </a:r>
            <a:endParaRPr lang="ko-KR" sz="3000"/>
          </a:p>
        </p:txBody>
      </p:sp>
      <p:sp>
        <p:nvSpPr>
          <p:cNvPr id="18" name="Panel 18"/>
          <p:cNvSpPr/>
          <p:nvPr/>
        </p:nvSpPr>
        <p:spPr>
          <a:xfrm>
            <a:off x="74295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Panel 19"/>
          <p:cNvSpPr/>
          <p:nvPr/>
        </p:nvSpPr>
        <p:spPr>
          <a:xfrm>
            <a:off x="7429500" y="1809750"/>
            <a:ext cx="57150" cy="914400"/>
          </a:xfrm>
          <a:prstGeom prst="rect">
            <a:avLst/>
          </a:prstGeom>
          <a:solidFill>
            <a:srgbClr val="19C37D"/>
          </a:solidFill>
          <a:ln w="9525">
            <a:solidFill>
              <a:srgbClr val="19C37D"/>
            </a:solidFill>
          </a:ln>
        </p:spPr>
        <p:txBody>
          <a:bodyPr/>
          <a:lstStyle/>
          <a:p/>
        </p:txBody>
      </p:sp>
      <p:sp>
        <p:nvSpPr>
          <p:cNvPr id="20" name="Text 20"/>
          <p:cNvSpPr txBox="1"/>
          <p:nvPr/>
        </p:nvSpPr>
        <p:spPr>
          <a:xfrm>
            <a:off x="76009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매수/증가</a:t>
            </a:r>
            <a:endParaRPr lang="ko-KR" sz="1200"/>
          </a:p>
        </p:txBody>
      </p:sp>
      <p:sp>
        <p:nvSpPr>
          <p:cNvPr id="21" name="Text 21"/>
          <p:cNvSpPr txBox="1"/>
          <p:nvPr/>
        </p:nvSpPr>
        <p:spPr>
          <a:xfrm>
            <a:off x="76009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438</a:t>
            </a:r>
            <a:endParaRPr lang="ko-KR" sz="3000"/>
          </a:p>
        </p:txBody>
      </p:sp>
      <p:sp>
        <p:nvSpPr>
          <p:cNvPr id="22" name="Panel 22"/>
          <p:cNvSpPr/>
          <p:nvPr/>
        </p:nvSpPr>
        <p:spPr>
          <a:xfrm>
            <a:off x="97536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Panel 23"/>
          <p:cNvSpPr/>
          <p:nvPr/>
        </p:nvSpPr>
        <p:spPr>
          <a:xfrm>
            <a:off x="9753600" y="1809750"/>
            <a:ext cx="57150" cy="914400"/>
          </a:xfrm>
          <a:prstGeom prst="rect">
            <a:avLst/>
          </a:prstGeom>
          <a:solidFill>
            <a:srgbClr val="FF4D5E"/>
          </a:solidFill>
          <a:ln w="9525">
            <a:solidFill>
              <a:srgbClr val="FF4D5E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99250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매도/감소</a:t>
            </a:r>
            <a:endParaRPr lang="ko-KR" sz="1200"/>
          </a:p>
        </p:txBody>
      </p:sp>
      <p:sp>
        <p:nvSpPr>
          <p:cNvPr id="25" name="Text 25"/>
          <p:cNvSpPr txBox="1"/>
          <p:nvPr/>
        </p:nvSpPr>
        <p:spPr>
          <a:xfrm>
            <a:off x="99250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540</a:t>
            </a:r>
            <a:endParaRPr lang="ko-KR" sz="3000"/>
          </a:p>
        </p:txBody>
      </p:sp>
      <p:sp>
        <p:nvSpPr>
          <p:cNvPr id="26" name="Text 26"/>
          <p:cNvSpPr txBox="1"/>
          <p:nvPr/>
        </p:nvSpPr>
        <p:spPr>
          <a:xfrm>
            <a:off x="571500" y="3257550"/>
            <a:ext cx="1057275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손님이 바로 볼 지점: 어느 ETF에서 무엇을 더 담고, 무엇을 줄였는지를 한 번에 보여주는 자료입니다.</a:t>
            </a:r>
            <a:endParaRPr lang="ko-KR" sz="2400"/>
          </a:p>
        </p:txBody>
      </p:sp>
      <p:sp>
        <p:nvSpPr>
          <p:cNvPr id="27" name="Text 27"/>
          <p:cNvSpPr txBox="1"/>
          <p:nvPr/>
        </p:nvSpPr>
        <p:spPr>
          <a:xfrm>
            <a:off x="571500" y="4305300"/>
            <a:ext cx="105727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투자 권유가 아니라, KRX PDF 보유종목 변화를 요약한 체크용 리포트입니다.</a:t>
            </a:r>
            <a:endParaRPr lang="ko-KR" sz="1700"/>
          </a:p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상세 전체 변화는 HTML 대쉬보드에서 확인하세요.</a:t>
            </a:r>
            <a:endParaRPr lang="ko-KR"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MONEY FLOW HEAT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가장 세게 움직인 ETF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변화 강도 상위 5개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514350" y="1676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685800" y="1809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#1</a:t>
            </a:r>
            <a:endParaRPr lang="ko-KR" sz="2300"/>
          </a:p>
        </p:txBody>
      </p:sp>
      <p:sp>
        <p:nvSpPr>
          <p:cNvPr id="8" name="Text 8"/>
          <p:cNvSpPr txBox="1"/>
          <p:nvPr/>
        </p:nvSpPr>
        <p:spPr>
          <a:xfrm>
            <a:off x="1314450" y="1790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VITA MZ소비액티브 (422260)</a:t>
            </a:r>
            <a:endParaRPr lang="ko-KR" sz="1800"/>
          </a:p>
        </p:txBody>
      </p:sp>
      <p:sp>
        <p:nvSpPr>
          <p:cNvPr id="9" name="Text 9"/>
          <p:cNvSpPr txBox="1"/>
          <p:nvPr/>
        </p:nvSpPr>
        <p:spPr>
          <a:xfrm>
            <a:off x="1314450" y="2057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15건 | 매수/증가 4건 | 매도/감소 11건</a:t>
            </a:r>
            <a:endParaRPr lang="ko-KR" sz="1300"/>
          </a:p>
        </p:txBody>
      </p:sp>
      <p:sp>
        <p:nvSpPr>
          <p:cNvPr id="10" name="Text 10"/>
          <p:cNvSpPr txBox="1"/>
          <p:nvPr/>
        </p:nvSpPr>
        <p:spPr>
          <a:xfrm>
            <a:off x="9067800" y="1847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25.39pp</a:t>
            </a:r>
            <a:endParaRPr lang="ko-KR" sz="1800"/>
          </a:p>
        </p:txBody>
      </p:sp>
      <p:sp>
        <p:nvSpPr>
          <p:cNvPr id="11" name="Panel 11"/>
          <p:cNvSpPr/>
          <p:nvPr/>
        </p:nvSpPr>
        <p:spPr>
          <a:xfrm>
            <a:off x="514350" y="25336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685800" y="26670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#2</a:t>
            </a:r>
            <a:endParaRPr lang="ko-KR" sz="2300"/>
          </a:p>
        </p:txBody>
      </p:sp>
      <p:sp>
        <p:nvSpPr>
          <p:cNvPr id="13" name="Text 13"/>
          <p:cNvSpPr txBox="1"/>
          <p:nvPr/>
        </p:nvSpPr>
        <p:spPr>
          <a:xfrm>
            <a:off x="1314450" y="26479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VITA 밸류알파액티브 (452440)</a:t>
            </a:r>
            <a:endParaRPr lang="ko-KR" sz="1800"/>
          </a:p>
        </p:txBody>
      </p:sp>
      <p:sp>
        <p:nvSpPr>
          <p:cNvPr id="14" name="Text 14"/>
          <p:cNvSpPr txBox="1"/>
          <p:nvPr/>
        </p:nvSpPr>
        <p:spPr>
          <a:xfrm>
            <a:off x="1314450" y="29146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20건 | 매수/증가 4건 | 매도/감소 16건</a:t>
            </a:r>
            <a:endParaRPr lang="ko-KR" sz="1300"/>
          </a:p>
        </p:txBody>
      </p:sp>
      <p:sp>
        <p:nvSpPr>
          <p:cNvPr id="15" name="Text 15"/>
          <p:cNvSpPr txBox="1"/>
          <p:nvPr/>
        </p:nvSpPr>
        <p:spPr>
          <a:xfrm>
            <a:off x="9067800" y="27051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19.58pp</a:t>
            </a:r>
            <a:endParaRPr lang="ko-KR" sz="1800"/>
          </a:p>
        </p:txBody>
      </p:sp>
      <p:sp>
        <p:nvSpPr>
          <p:cNvPr id="16" name="Panel 16"/>
          <p:cNvSpPr/>
          <p:nvPr/>
        </p:nvSpPr>
        <p:spPr>
          <a:xfrm>
            <a:off x="514350" y="33909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685800" y="35242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#3</a:t>
            </a:r>
            <a:endParaRPr lang="ko-KR" sz="2300"/>
          </a:p>
        </p:txBody>
      </p:sp>
      <p:sp>
        <p:nvSpPr>
          <p:cNvPr id="18" name="Text 18"/>
          <p:cNvSpPr txBox="1"/>
          <p:nvPr/>
        </p:nvSpPr>
        <p:spPr>
          <a:xfrm>
            <a:off x="1314450" y="35052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TIGER 퓨처모빌리티액티브 (387280)</a:t>
            </a:r>
            <a:endParaRPr lang="ko-KR" sz="1800"/>
          </a:p>
        </p:txBody>
      </p:sp>
      <p:sp>
        <p:nvSpPr>
          <p:cNvPr id="19" name="Text 19"/>
          <p:cNvSpPr txBox="1"/>
          <p:nvPr/>
        </p:nvSpPr>
        <p:spPr>
          <a:xfrm>
            <a:off x="1314450" y="37719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21건 | 매수/증가 7건 | 매도/감소 14건</a:t>
            </a:r>
            <a:endParaRPr lang="ko-KR" sz="1300"/>
          </a:p>
        </p:txBody>
      </p:sp>
      <p:sp>
        <p:nvSpPr>
          <p:cNvPr id="20" name="Text 20"/>
          <p:cNvSpPr txBox="1"/>
          <p:nvPr/>
        </p:nvSpPr>
        <p:spPr>
          <a:xfrm>
            <a:off x="9067800" y="35623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15.48pp</a:t>
            </a:r>
            <a:endParaRPr lang="ko-KR" sz="1800"/>
          </a:p>
        </p:txBody>
      </p:sp>
      <p:sp>
        <p:nvSpPr>
          <p:cNvPr id="21" name="Panel 21"/>
          <p:cNvSpPr/>
          <p:nvPr/>
        </p:nvSpPr>
        <p:spPr>
          <a:xfrm>
            <a:off x="514350" y="42481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685800" y="43815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#4</a:t>
            </a:r>
            <a:endParaRPr lang="ko-KR" sz="2300"/>
          </a:p>
        </p:txBody>
      </p:sp>
      <p:sp>
        <p:nvSpPr>
          <p:cNvPr id="23" name="Text 23"/>
          <p:cNvSpPr txBox="1"/>
          <p:nvPr/>
        </p:nvSpPr>
        <p:spPr>
          <a:xfrm>
            <a:off x="1314450" y="43624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RISE 바이오TOP10액티브 (0000Z0)</a:t>
            </a:r>
            <a:endParaRPr lang="ko-KR" sz="1800"/>
          </a:p>
        </p:txBody>
      </p:sp>
      <p:sp>
        <p:nvSpPr>
          <p:cNvPr id="24" name="Text 24"/>
          <p:cNvSpPr txBox="1"/>
          <p:nvPr/>
        </p:nvSpPr>
        <p:spPr>
          <a:xfrm>
            <a:off x="1314450" y="46291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18건 | 매수/증가 10건 | 매도/감소 8건</a:t>
            </a:r>
            <a:endParaRPr lang="ko-KR" sz="1300"/>
          </a:p>
        </p:txBody>
      </p:sp>
      <p:sp>
        <p:nvSpPr>
          <p:cNvPr id="25" name="Text 25"/>
          <p:cNvSpPr txBox="1"/>
          <p:nvPr/>
        </p:nvSpPr>
        <p:spPr>
          <a:xfrm>
            <a:off x="9067800" y="44196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12.44pp</a:t>
            </a:r>
            <a:endParaRPr lang="ko-KR" sz="1800"/>
          </a:p>
        </p:txBody>
      </p:sp>
      <p:sp>
        <p:nvSpPr>
          <p:cNvPr id="26" name="Panel 26"/>
          <p:cNvSpPr/>
          <p:nvPr/>
        </p:nvSpPr>
        <p:spPr>
          <a:xfrm>
            <a:off x="514350" y="5105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685800" y="5238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#5</a:t>
            </a:r>
            <a:endParaRPr lang="ko-KR" sz="2300"/>
          </a:p>
        </p:txBody>
      </p:sp>
      <p:sp>
        <p:nvSpPr>
          <p:cNvPr id="28" name="Text 28"/>
          <p:cNvSpPr txBox="1"/>
          <p:nvPr/>
        </p:nvSpPr>
        <p:spPr>
          <a:xfrm>
            <a:off x="1314450" y="5219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KoAct AI인프라액티브 (487130)</a:t>
            </a:r>
            <a:endParaRPr lang="ko-KR" sz="1800"/>
          </a:p>
        </p:txBody>
      </p:sp>
      <p:sp>
        <p:nvSpPr>
          <p:cNvPr id="29" name="Text 29"/>
          <p:cNvSpPr txBox="1"/>
          <p:nvPr/>
        </p:nvSpPr>
        <p:spPr>
          <a:xfrm>
            <a:off x="1314450" y="5486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23건 | 매수/증가 9건 | 매도/감소 14건</a:t>
            </a:r>
            <a:endParaRPr lang="ko-KR" sz="1300"/>
          </a:p>
        </p:txBody>
      </p:sp>
      <p:sp>
        <p:nvSpPr>
          <p:cNvPr id="30" name="Text 30"/>
          <p:cNvSpPr txBox="1"/>
          <p:nvPr/>
        </p:nvSpPr>
        <p:spPr>
          <a:xfrm>
            <a:off x="9067800" y="5276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10.74pp</a:t>
            </a:r>
            <a:endParaRPr lang="ko-KR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BUY / INCREASE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늘어난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신규 편입과 비중 증가를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2.34%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13.76%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+11.42pp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8.52%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18.03%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+9.51pp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퓨처모빌리티액티브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POSCO홀딩스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005490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3.97%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+3.97pp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에셋플러스 코리아대장장이액티브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7.62%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10.71%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+3.09pp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K바이오액티브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0.79%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2.76%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+1.97pp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토모큐브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475960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1.80%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+1.80pp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알테오젠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196170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6.21%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7.80%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+1.59pp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코스피액티브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신세계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004170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1.57%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+1.57pp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AI인프라액티브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프로텍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053610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1.55%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+1.55pp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기술이전바이오액티브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2.91%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4.27%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+1.36pp</a:t>
            </a:r>
            <a:endParaRPr lang="ko-KR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SELL / DECREASE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줄어든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제외 종목과 비중 감소를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에이피알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278470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9.94%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6.77%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-3.17pp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KODEX 코리아혁신성장액티브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셀트리온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068270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4.30%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1.42%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-2.88pp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수소전력ESS인프라액티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LS ELECTRIC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010120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2.49%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0.12%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-2.37pp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주주환원가치주액티브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나이스정보통신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036800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2.37%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0.17%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-2.20pp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신세계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004170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7.24%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5.13%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-2.11pp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주주환원가치주액티브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현대홈쇼핑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057050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2.36%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0.31%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-2.05pp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파라다이스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034230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7.00%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4.96%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-2.04pp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아모레퍼시픽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090430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8.10%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6.07%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-2.03pp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제외 지놈앤컴퍼니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314130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1.93%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-1.93pp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아모레퍼시픽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090430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6.79%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5.02%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-1.77pp</a:t>
            </a:r>
            <a:endParaRPr lang="ko-KR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CLIENT BRIEF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손님에게 이렇게 보여주세요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짧고 세게 읽히는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704850" y="1790700"/>
            <a:ext cx="10572750" cy="22860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1. 오늘 변화 ETF는 72개, 전체 변화는 994건입니다.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2. 매수/비중증가 438건, 매도/비중감소 540건을 확인했습니다.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3. 상위 종목은 보유종목 변화의 방향성을 보는 체크포인트입니다.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4. 전체 상세 내역은 HTML 대쉬보드에서 ETF별로 검색하면 됩니다.</a:t>
            </a:r>
            <a:endParaRPr lang="ko-KR" sz="2400"/>
          </a:p>
        </p:txBody>
      </p:sp>
      <p:sp>
        <p:nvSpPr>
          <p:cNvPr id="7" name="Text 7"/>
          <p:cNvSpPr txBox="1"/>
          <p:nvPr/>
        </p:nvSpPr>
        <p:spPr>
          <a:xfrm>
            <a:off x="704850" y="4572000"/>
            <a:ext cx="1057275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자극적으로 보이지만, 내용은 오직 KRX PDF 데이터 변화 기록입니다. 투자판단은 별도의 상담과 함께 하세요.</a:t>
            </a:r>
            <a:endParaRPr lang="ko-KR" sz="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TF Terminal">
  <a:themeElements>
    <a:clrScheme name="ETF Terminal">
      <a:dk1>
        <a:srgbClr val="050608"/>
      </a:dk1>
      <a:lt1>
        <a:srgbClr val="F2F5F8"/>
      </a:lt1>
      <a:dk2>
        <a:srgbClr val="101318"/>
      </a:dk2>
      <a:lt2>
        <a:srgbClr val="9AA6B2"/>
      </a:lt2>
      <a:accent1>
        <a:srgbClr val="F5B301"/>
      </a:accent1>
      <a:accent2>
        <a:srgbClr val="19C37D"/>
      </a:accent2>
      <a:accent3>
        <a:srgbClr val="FF4D5E"/>
      </a:accent3>
      <a:accent4>
        <a:srgbClr val="3DD6E8"/>
      </a:accent4>
      <a:accent5>
        <a:srgbClr val="2A3038"/>
      </a:accent5>
      <a:accent6>
        <a:srgbClr val="FFFFFF"/>
      </a:accent6>
      <a:hlink>
        <a:srgbClr val="3DD6E8"/>
      </a:hlink>
      <a:folHlink>
        <a:srgbClr val="F5B301"/>
      </a:folHlink>
    </a:clrScheme>
    <a:fontScheme name="ETF Font">
      <a:majorFont>
        <a:latin typeface="Malgun Gothic"/>
        <a:ea typeface="Malgun Gothic"/>
      </a:majorFont>
      <a:minorFont>
        <a:latin typeface="Malgun Gothic"/>
        <a:ea typeface="Malgun Gothic"/>
      </a:minorFont>
    </a:fontScheme>
    <a:fmtScheme name="ETF">
      <a:fillStyleLst>
        <a:solidFill>
          <a:schemeClr val="accent1"/>
        </a:solidFill>
      </a:fillStyleLst>
      <a:lnStyleLst>
        <a:ln w="9525">
          <a:solidFill>
            <a:schemeClr val="accent5"/>
          </a:solidFill>
        </a:ln>
      </a:lnStyleLst>
      <a:effectStyleLst>
        <a:effectStyle>
          <a:effectLst/>
        </a:effectStyle>
      </a:effectStyleLst>
      <a:bgFillStyleLst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유진증권 안상현 센터장의 ETF 변동율 체크 보고서</dc:title>
  <dc:creator>ETF KRX Monitor</dc:creator>
  <cp:lastModifiedBy>ETF KRX Monitor</cp:lastModifiedBy>
  <dcterms:created xsi:type="dcterms:W3CDTF">2026-04-22T14:28:19+09:00</dcterms:created>
  <dcterms:modified xsi:type="dcterms:W3CDTF">2026-04-22T14:28:19+09:00</dcterms:modified>
</cp:coreProperties>
</file>