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3850" y="190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 b="1">
                <a:solidFill>
                  <a:srgbClr val="F5B301"/>
                </a:solidFill>
                <a:latin typeface="Malgun Gothic"/>
                <a:ea typeface="Malgun Gothic"/>
              </a:rPr>
              <a:t>EUGENE SECURITIES | ACTIVE ETF RADAR</a:t>
            </a:r>
            <a:endParaRPr lang="ko-KR" sz="1300"/>
          </a:p>
        </p:txBody>
      </p:sp>
      <p:sp>
        <p:nvSpPr>
          <p:cNvPr id="3" name="Text 3"/>
          <p:cNvSpPr txBox="1"/>
          <p:nvPr/>
        </p:nvSpPr>
        <p:spPr>
          <a:xfrm>
            <a:off x="323850" y="476250"/>
            <a:ext cx="93345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오늘 ETF 자금의 흔적, 여기서 갈렸습니다</a:t>
            </a:r>
            <a:endParaRPr lang="ko-KR" sz="3000"/>
          </a:p>
        </p:txBody>
      </p:sp>
      <p:sp>
        <p:nvSpPr>
          <p:cNvPr id="4" name="Text 4"/>
          <p:cNvSpPr txBox="1"/>
          <p:nvPr/>
        </p:nvSpPr>
        <p:spPr>
          <a:xfrm>
            <a:off x="342900" y="108585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00">
                <a:solidFill>
                  <a:srgbClr val="9AA6B2"/>
                </a:solidFill>
                <a:latin typeface="Malgun Gothic"/>
                <a:ea typeface="Malgun Gothic"/>
              </a:rPr>
              <a:t>2026-04-22 KRX PDF 보유종목 변화 요약</a:t>
            </a:r>
            <a:endParaRPr lang="ko-KR" sz="1500"/>
          </a:p>
        </p:txBody>
      </p:sp>
      <p:sp>
        <p:nvSpPr>
          <p:cNvPr id="5" name="Panel 5"/>
          <p:cNvSpPr/>
          <p:nvPr/>
        </p:nvSpPr>
        <p:spPr>
          <a:xfrm>
            <a:off x="323850" y="1428750"/>
            <a:ext cx="11525250" cy="19050"/>
          </a:xfrm>
          <a:prstGeom prst="rect">
            <a:avLst/>
          </a:prstGeom>
          <a:solidFill>
            <a:srgbClr val="F5B301"/>
          </a:solidFill>
          <a:ln w="9525">
            <a:solidFill>
              <a:srgbClr val="F5B301"/>
            </a:solidFill>
          </a:ln>
        </p:spPr>
        <p:txBody>
          <a:bodyPr/>
          <a:lstStyle/>
          <a:p/>
        </p:txBody>
      </p:sp>
      <p:sp>
        <p:nvSpPr>
          <p:cNvPr id="6" name="Panel 6"/>
          <p:cNvSpPr/>
          <p:nvPr/>
        </p:nvSpPr>
        <p:spPr>
          <a:xfrm>
            <a:off x="457200" y="1809750"/>
            <a:ext cx="2095500" cy="9144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" name="Panel 7"/>
          <p:cNvSpPr/>
          <p:nvPr/>
        </p:nvSpPr>
        <p:spPr>
          <a:xfrm>
            <a:off x="457200" y="1809750"/>
            <a:ext cx="57150" cy="914400"/>
          </a:xfrm>
          <a:prstGeom prst="rect">
            <a:avLst/>
          </a:prstGeom>
          <a:solidFill>
            <a:srgbClr val="F5B301"/>
          </a:solidFill>
          <a:ln w="9525">
            <a:solidFill>
              <a:srgbClr val="F5B301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628650" y="1943100"/>
            <a:ext cx="17621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200" b="1">
                <a:solidFill>
                  <a:srgbClr val="9AA6B2"/>
                </a:solidFill>
                <a:latin typeface="Malgun Gothic"/>
                <a:ea typeface="Malgun Gothic"/>
              </a:rPr>
              <a:t>대상 ETF</a:t>
            </a:r>
            <a:endParaRPr lang="ko-KR" sz="1200"/>
          </a:p>
        </p:txBody>
      </p:sp>
      <p:sp>
        <p:nvSpPr>
          <p:cNvPr id="9" name="Text 9"/>
          <p:cNvSpPr txBox="1"/>
          <p:nvPr/>
        </p:nvSpPr>
        <p:spPr>
          <a:xfrm>
            <a:off x="628650" y="2171700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300</a:t>
            </a:r>
            <a:endParaRPr lang="ko-KR" sz="3000"/>
          </a:p>
        </p:txBody>
      </p:sp>
      <p:sp>
        <p:nvSpPr>
          <p:cNvPr id="10" name="Panel 10"/>
          <p:cNvSpPr/>
          <p:nvPr/>
        </p:nvSpPr>
        <p:spPr>
          <a:xfrm>
            <a:off x="2781300" y="1809750"/>
            <a:ext cx="2095500" cy="9144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" name="Panel 11"/>
          <p:cNvSpPr/>
          <p:nvPr/>
        </p:nvSpPr>
        <p:spPr>
          <a:xfrm>
            <a:off x="2781300" y="1809750"/>
            <a:ext cx="57150" cy="914400"/>
          </a:xfrm>
          <a:prstGeom prst="rect">
            <a:avLst/>
          </a:prstGeom>
          <a:solidFill>
            <a:srgbClr val="3DD6E8"/>
          </a:solidFill>
          <a:ln w="9525">
            <a:solidFill>
              <a:srgbClr val="3DD6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2952750" y="1943100"/>
            <a:ext cx="17621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200" b="1">
                <a:solidFill>
                  <a:srgbClr val="9AA6B2"/>
                </a:solidFill>
                <a:latin typeface="Malgun Gothic"/>
                <a:ea typeface="Malgun Gothic"/>
              </a:rPr>
              <a:t>변화 ETF</a:t>
            </a:r>
            <a:endParaRPr lang="ko-KR" sz="1200"/>
          </a:p>
        </p:txBody>
      </p:sp>
      <p:sp>
        <p:nvSpPr>
          <p:cNvPr id="13" name="Text 13"/>
          <p:cNvSpPr txBox="1"/>
          <p:nvPr/>
        </p:nvSpPr>
        <p:spPr>
          <a:xfrm>
            <a:off x="2952750" y="2171700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252</a:t>
            </a:r>
            <a:endParaRPr lang="ko-KR" sz="3000"/>
          </a:p>
        </p:txBody>
      </p:sp>
      <p:sp>
        <p:nvSpPr>
          <p:cNvPr id="14" name="Panel 14"/>
          <p:cNvSpPr/>
          <p:nvPr/>
        </p:nvSpPr>
        <p:spPr>
          <a:xfrm>
            <a:off x="5105400" y="1809750"/>
            <a:ext cx="2095500" cy="9144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5" name="Panel 15"/>
          <p:cNvSpPr/>
          <p:nvPr/>
        </p:nvSpPr>
        <p:spPr>
          <a:xfrm>
            <a:off x="5105400" y="1809750"/>
            <a:ext cx="57150" cy="914400"/>
          </a:xfrm>
          <a:prstGeom prst="rect">
            <a:avLst/>
          </a:prstGeom>
          <a:solidFill>
            <a:srgbClr val="F5B301"/>
          </a:solidFill>
          <a:ln w="9525">
            <a:solidFill>
              <a:srgbClr val="F5B301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5276850" y="1943100"/>
            <a:ext cx="17621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200" b="1">
                <a:solidFill>
                  <a:srgbClr val="9AA6B2"/>
                </a:solidFill>
                <a:latin typeface="Malgun Gothic"/>
                <a:ea typeface="Malgun Gothic"/>
              </a:rPr>
              <a:t>전체 변화</a:t>
            </a:r>
            <a:endParaRPr lang="ko-KR" sz="1200"/>
          </a:p>
        </p:txBody>
      </p:sp>
      <p:sp>
        <p:nvSpPr>
          <p:cNvPr id="17" name="Text 17"/>
          <p:cNvSpPr txBox="1"/>
          <p:nvPr/>
        </p:nvSpPr>
        <p:spPr>
          <a:xfrm>
            <a:off x="5276850" y="2171700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20877</a:t>
            </a:r>
            <a:endParaRPr lang="ko-KR" sz="3000"/>
          </a:p>
        </p:txBody>
      </p:sp>
      <p:sp>
        <p:nvSpPr>
          <p:cNvPr id="18" name="Panel 18"/>
          <p:cNvSpPr/>
          <p:nvPr/>
        </p:nvSpPr>
        <p:spPr>
          <a:xfrm>
            <a:off x="7429500" y="1809750"/>
            <a:ext cx="2095500" cy="9144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9" name="Panel 19"/>
          <p:cNvSpPr/>
          <p:nvPr/>
        </p:nvSpPr>
        <p:spPr>
          <a:xfrm>
            <a:off x="7429500" y="1809750"/>
            <a:ext cx="57150" cy="914400"/>
          </a:xfrm>
          <a:prstGeom prst="rect">
            <a:avLst/>
          </a:prstGeom>
          <a:solidFill>
            <a:srgbClr val="19C37D"/>
          </a:solidFill>
          <a:ln w="9525">
            <a:solidFill>
              <a:srgbClr val="19C37D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600950" y="1943100"/>
            <a:ext cx="17621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200" b="1">
                <a:solidFill>
                  <a:srgbClr val="9AA6B2"/>
                </a:solidFill>
                <a:latin typeface="Malgun Gothic"/>
                <a:ea typeface="Malgun Gothic"/>
              </a:rPr>
              <a:t>매수/증가</a:t>
            </a:r>
            <a:endParaRPr lang="ko-KR" sz="1200"/>
          </a:p>
        </p:txBody>
      </p:sp>
      <p:sp>
        <p:nvSpPr>
          <p:cNvPr id="21" name="Text 21"/>
          <p:cNvSpPr txBox="1"/>
          <p:nvPr/>
        </p:nvSpPr>
        <p:spPr>
          <a:xfrm>
            <a:off x="7600950" y="2171700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107</a:t>
            </a:r>
            <a:endParaRPr lang="ko-KR" sz="3000"/>
          </a:p>
        </p:txBody>
      </p:sp>
      <p:sp>
        <p:nvSpPr>
          <p:cNvPr id="22" name="Panel 22"/>
          <p:cNvSpPr/>
          <p:nvPr/>
        </p:nvSpPr>
        <p:spPr>
          <a:xfrm>
            <a:off x="9753600" y="1809750"/>
            <a:ext cx="2095500" cy="9144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3" name="Panel 23"/>
          <p:cNvSpPr/>
          <p:nvPr/>
        </p:nvSpPr>
        <p:spPr>
          <a:xfrm>
            <a:off x="9753600" y="1809750"/>
            <a:ext cx="57150" cy="914400"/>
          </a:xfrm>
          <a:prstGeom prst="rect">
            <a:avLst/>
          </a:prstGeom>
          <a:solidFill>
            <a:srgbClr val="FF4D5E"/>
          </a:solidFill>
          <a:ln w="9525">
            <a:solidFill>
              <a:srgbClr val="FF4D5E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9925050" y="1943100"/>
            <a:ext cx="17621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200" b="1">
                <a:solidFill>
                  <a:srgbClr val="9AA6B2"/>
                </a:solidFill>
                <a:latin typeface="Malgun Gothic"/>
                <a:ea typeface="Malgun Gothic"/>
              </a:rPr>
              <a:t>매도/감소</a:t>
            </a:r>
            <a:endParaRPr lang="ko-KR" sz="1200"/>
          </a:p>
        </p:txBody>
      </p:sp>
      <p:sp>
        <p:nvSpPr>
          <p:cNvPr id="25" name="Text 25"/>
          <p:cNvSpPr txBox="1"/>
          <p:nvPr/>
        </p:nvSpPr>
        <p:spPr>
          <a:xfrm>
            <a:off x="9925050" y="2171700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2301</a:t>
            </a:r>
            <a:endParaRPr lang="ko-KR" sz="3000"/>
          </a:p>
        </p:txBody>
      </p:sp>
      <p:sp>
        <p:nvSpPr>
          <p:cNvPr id="26" name="Text 26"/>
          <p:cNvSpPr txBox="1"/>
          <p:nvPr/>
        </p:nvSpPr>
        <p:spPr>
          <a:xfrm>
            <a:off x="571500" y="3257550"/>
            <a:ext cx="10572750" cy="6858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2400" b="1">
                <a:solidFill>
                  <a:srgbClr val="F2F5F8"/>
                </a:solidFill>
                <a:latin typeface="Malgun Gothic"/>
                <a:ea typeface="Malgun Gothic"/>
              </a:rPr>
              <a:t>손님이 바로 볼 지점: 어느 ETF에서 무엇을 더 담고, 무엇을 줄였는지를 한 번에 보여주는 자료입니다.</a:t>
            </a:r>
            <a:endParaRPr lang="ko-KR" sz="2400"/>
          </a:p>
        </p:txBody>
      </p:sp>
      <p:sp>
        <p:nvSpPr>
          <p:cNvPr id="27" name="Text 27"/>
          <p:cNvSpPr txBox="1"/>
          <p:nvPr/>
        </p:nvSpPr>
        <p:spPr>
          <a:xfrm>
            <a:off x="571500" y="4305300"/>
            <a:ext cx="105727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700">
                <a:solidFill>
                  <a:srgbClr val="9AA6B2"/>
                </a:solidFill>
                <a:latin typeface="Malgun Gothic"/>
                <a:ea typeface="Malgun Gothic"/>
              </a:rPr>
              <a:t>투자 권유가 아니라, KRX PDF 보유종목 변화를 요약한 체크용 리포트입니다.</a:t>
            </a:r>
            <a:endParaRPr lang="ko-KR" sz="1700"/>
          </a:p>
          <a:p>
            <a:pPr algn="l"/>
            <a:r>
              <a:rPr lang="ko-KR" sz="1700">
                <a:solidFill>
                  <a:srgbClr val="9AA6B2"/>
                </a:solidFill>
                <a:latin typeface="Malgun Gothic"/>
                <a:ea typeface="Malgun Gothic"/>
              </a:rPr>
              <a:t>상세 전체 변화는 HTML 대쉬보드에서 확인하세요.</a:t>
            </a:r>
            <a:endParaRPr lang="ko-KR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3850" y="190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 b="1">
                <a:solidFill>
                  <a:srgbClr val="F5B301"/>
                </a:solidFill>
                <a:latin typeface="Malgun Gothic"/>
                <a:ea typeface="Malgun Gothic"/>
              </a:rPr>
              <a:t>MONEY FLOW HEAT</a:t>
            </a:r>
            <a:endParaRPr lang="ko-KR" sz="1300"/>
          </a:p>
        </p:txBody>
      </p:sp>
      <p:sp>
        <p:nvSpPr>
          <p:cNvPr id="3" name="Text 3"/>
          <p:cNvSpPr txBox="1"/>
          <p:nvPr/>
        </p:nvSpPr>
        <p:spPr>
          <a:xfrm>
            <a:off x="323850" y="476250"/>
            <a:ext cx="93345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오늘 가장 세게 움직인 ETF</a:t>
            </a:r>
            <a:endParaRPr lang="ko-KR" sz="3000"/>
          </a:p>
        </p:txBody>
      </p:sp>
      <p:sp>
        <p:nvSpPr>
          <p:cNvPr id="4" name="Text 4"/>
          <p:cNvSpPr txBox="1"/>
          <p:nvPr/>
        </p:nvSpPr>
        <p:spPr>
          <a:xfrm>
            <a:off x="342900" y="108585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00">
                <a:solidFill>
                  <a:srgbClr val="9AA6B2"/>
                </a:solidFill>
                <a:latin typeface="Malgun Gothic"/>
                <a:ea typeface="Malgun Gothic"/>
              </a:rPr>
              <a:t>변화 강도 상위 5개</a:t>
            </a:r>
            <a:endParaRPr lang="ko-KR" sz="1500"/>
          </a:p>
        </p:txBody>
      </p:sp>
      <p:sp>
        <p:nvSpPr>
          <p:cNvPr id="5" name="Panel 5"/>
          <p:cNvSpPr/>
          <p:nvPr/>
        </p:nvSpPr>
        <p:spPr>
          <a:xfrm>
            <a:off x="323850" y="1428750"/>
            <a:ext cx="11525250" cy="19050"/>
          </a:xfrm>
          <a:prstGeom prst="rect">
            <a:avLst/>
          </a:prstGeom>
          <a:solidFill>
            <a:srgbClr val="F5B301"/>
          </a:solidFill>
          <a:ln w="9525">
            <a:solidFill>
              <a:srgbClr val="F5B301"/>
            </a:solidFill>
          </a:ln>
        </p:spPr>
        <p:txBody>
          <a:bodyPr/>
          <a:lstStyle/>
          <a:p/>
        </p:txBody>
      </p:sp>
      <p:sp>
        <p:nvSpPr>
          <p:cNvPr id="6" name="Panel 6"/>
          <p:cNvSpPr/>
          <p:nvPr/>
        </p:nvSpPr>
        <p:spPr>
          <a:xfrm>
            <a:off x="514350" y="1676400"/>
            <a:ext cx="11125200" cy="6858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85800" y="180975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300" b="1">
                <a:solidFill>
                  <a:srgbClr val="F5B301"/>
                </a:solidFill>
                <a:latin typeface="Malgun Gothic"/>
                <a:ea typeface="Malgun Gothic"/>
              </a:rPr>
              <a:t>#1</a:t>
            </a:r>
            <a:endParaRPr lang="ko-KR" sz="2300"/>
          </a:p>
        </p:txBody>
      </p:sp>
      <p:sp>
        <p:nvSpPr>
          <p:cNvPr id="8" name="Text 8"/>
          <p:cNvSpPr txBox="1"/>
          <p:nvPr/>
        </p:nvSpPr>
        <p:spPr>
          <a:xfrm>
            <a:off x="1314450" y="1790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800" b="1">
                <a:solidFill>
                  <a:srgbClr val="F2F5F8"/>
                </a:solidFill>
                <a:latin typeface="Malgun Gothic"/>
                <a:ea typeface="Malgun Gothic"/>
              </a:rPr>
              <a:t>KoAct 코스닥액티브 (0163Y0)</a:t>
            </a:r>
            <a:endParaRPr lang="ko-KR" sz="1800"/>
          </a:p>
        </p:txBody>
      </p:sp>
      <p:sp>
        <p:nvSpPr>
          <p:cNvPr id="9" name="Text 9"/>
          <p:cNvSpPr txBox="1"/>
          <p:nvPr/>
        </p:nvSpPr>
        <p:spPr>
          <a:xfrm>
            <a:off x="1314450" y="2057400"/>
            <a:ext cx="590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>
                <a:solidFill>
                  <a:srgbClr val="9AA6B2"/>
                </a:solidFill>
                <a:latin typeface="Malgun Gothic"/>
                <a:ea typeface="Malgun Gothic"/>
              </a:rPr>
              <a:t>변화 90건 | 매수/증가 1건 | 매도/감소 87건</a:t>
            </a:r>
            <a:endParaRPr lang="ko-KR" sz="1300"/>
          </a:p>
        </p:txBody>
      </p:sp>
      <p:sp>
        <p:nvSpPr>
          <p:cNvPr id="10" name="Text 10"/>
          <p:cNvSpPr txBox="1"/>
          <p:nvPr/>
        </p:nvSpPr>
        <p:spPr>
          <a:xfrm>
            <a:off x="9067800" y="1847850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800" b="1">
                <a:solidFill>
                  <a:srgbClr val="3DD6E8"/>
                </a:solidFill>
                <a:latin typeface="Malgun Gothic"/>
                <a:ea typeface="Malgun Gothic"/>
              </a:rPr>
              <a:t>충격도 100.35pp</a:t>
            </a:r>
            <a:endParaRPr lang="ko-KR" sz="1800"/>
          </a:p>
        </p:txBody>
      </p:sp>
      <p:sp>
        <p:nvSpPr>
          <p:cNvPr id="11" name="Panel 11"/>
          <p:cNvSpPr/>
          <p:nvPr/>
        </p:nvSpPr>
        <p:spPr>
          <a:xfrm>
            <a:off x="514350" y="2533650"/>
            <a:ext cx="11125200" cy="6858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85800" y="26670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300" b="1">
                <a:solidFill>
                  <a:srgbClr val="F5B301"/>
                </a:solidFill>
                <a:latin typeface="Malgun Gothic"/>
                <a:ea typeface="Malgun Gothic"/>
              </a:rPr>
              <a:t>#2</a:t>
            </a:r>
            <a:endParaRPr lang="ko-KR" sz="2300"/>
          </a:p>
        </p:txBody>
      </p:sp>
      <p:sp>
        <p:nvSpPr>
          <p:cNvPr id="13" name="Text 13"/>
          <p:cNvSpPr txBox="1"/>
          <p:nvPr/>
        </p:nvSpPr>
        <p:spPr>
          <a:xfrm>
            <a:off x="1314450" y="26479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800" b="1">
                <a:solidFill>
                  <a:srgbClr val="F2F5F8"/>
                </a:solidFill>
                <a:latin typeface="Malgun Gothic"/>
                <a:ea typeface="Malgun Gothic"/>
              </a:rPr>
              <a:t>ACE 주주환원가치주액티브 (447430)</a:t>
            </a:r>
            <a:endParaRPr lang="ko-KR" sz="1800"/>
          </a:p>
        </p:txBody>
      </p:sp>
      <p:sp>
        <p:nvSpPr>
          <p:cNvPr id="14" name="Text 14"/>
          <p:cNvSpPr txBox="1"/>
          <p:nvPr/>
        </p:nvSpPr>
        <p:spPr>
          <a:xfrm>
            <a:off x="1314450" y="2914650"/>
            <a:ext cx="590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>
                <a:solidFill>
                  <a:srgbClr val="9AA6B2"/>
                </a:solidFill>
                <a:latin typeface="Malgun Gothic"/>
                <a:ea typeface="Malgun Gothic"/>
              </a:rPr>
              <a:t>변화 28건 | 매수/증가 0건 | 매도/감소 27건</a:t>
            </a:r>
            <a:endParaRPr lang="ko-KR" sz="1300"/>
          </a:p>
        </p:txBody>
      </p:sp>
      <p:sp>
        <p:nvSpPr>
          <p:cNvPr id="15" name="Text 15"/>
          <p:cNvSpPr txBox="1"/>
          <p:nvPr/>
        </p:nvSpPr>
        <p:spPr>
          <a:xfrm>
            <a:off x="9067800" y="2705100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800" b="1">
                <a:solidFill>
                  <a:srgbClr val="3DD6E8"/>
                </a:solidFill>
                <a:latin typeface="Malgun Gothic"/>
                <a:ea typeface="Malgun Gothic"/>
              </a:rPr>
              <a:t>충격도 100.02pp</a:t>
            </a:r>
            <a:endParaRPr lang="ko-KR" sz="1800"/>
          </a:p>
        </p:txBody>
      </p:sp>
      <p:sp>
        <p:nvSpPr>
          <p:cNvPr id="16" name="Panel 16"/>
          <p:cNvSpPr/>
          <p:nvPr/>
        </p:nvSpPr>
        <p:spPr>
          <a:xfrm>
            <a:off x="514350" y="3390900"/>
            <a:ext cx="11125200" cy="6858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685800" y="352425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300" b="1">
                <a:solidFill>
                  <a:srgbClr val="F5B301"/>
                </a:solidFill>
                <a:latin typeface="Malgun Gothic"/>
                <a:ea typeface="Malgun Gothic"/>
              </a:rPr>
              <a:t>#3</a:t>
            </a:r>
            <a:endParaRPr lang="ko-KR" sz="2300"/>
          </a:p>
        </p:txBody>
      </p:sp>
      <p:sp>
        <p:nvSpPr>
          <p:cNvPr id="18" name="Text 18"/>
          <p:cNvSpPr txBox="1"/>
          <p:nvPr/>
        </p:nvSpPr>
        <p:spPr>
          <a:xfrm>
            <a:off x="1314450" y="3505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800" b="1">
                <a:solidFill>
                  <a:srgbClr val="F2F5F8"/>
                </a:solidFill>
                <a:latin typeface="Malgun Gothic"/>
                <a:ea typeface="Malgun Gothic"/>
              </a:rPr>
              <a:t>KODEX 로봇액티브 (445290)</a:t>
            </a:r>
            <a:endParaRPr lang="ko-KR" sz="1800"/>
          </a:p>
        </p:txBody>
      </p:sp>
      <p:sp>
        <p:nvSpPr>
          <p:cNvPr id="19" name="Text 19"/>
          <p:cNvSpPr txBox="1"/>
          <p:nvPr/>
        </p:nvSpPr>
        <p:spPr>
          <a:xfrm>
            <a:off x="1314450" y="3771900"/>
            <a:ext cx="590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>
                <a:solidFill>
                  <a:srgbClr val="9AA6B2"/>
                </a:solidFill>
                <a:latin typeface="Malgun Gothic"/>
                <a:ea typeface="Malgun Gothic"/>
              </a:rPr>
              <a:t>변화 33건 | 매수/증가 0건 | 매도/감소 33건</a:t>
            </a:r>
            <a:endParaRPr lang="ko-KR" sz="1300"/>
          </a:p>
        </p:txBody>
      </p:sp>
      <p:sp>
        <p:nvSpPr>
          <p:cNvPr id="20" name="Text 20"/>
          <p:cNvSpPr txBox="1"/>
          <p:nvPr/>
        </p:nvSpPr>
        <p:spPr>
          <a:xfrm>
            <a:off x="9067800" y="3562350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800" b="1">
                <a:solidFill>
                  <a:srgbClr val="3DD6E8"/>
                </a:solidFill>
                <a:latin typeface="Malgun Gothic"/>
                <a:ea typeface="Malgun Gothic"/>
              </a:rPr>
              <a:t>충격도 100.02pp</a:t>
            </a:r>
            <a:endParaRPr lang="ko-KR" sz="1800"/>
          </a:p>
        </p:txBody>
      </p:sp>
      <p:sp>
        <p:nvSpPr>
          <p:cNvPr id="21" name="Panel 21"/>
          <p:cNvSpPr/>
          <p:nvPr/>
        </p:nvSpPr>
        <p:spPr>
          <a:xfrm>
            <a:off x="514350" y="4248150"/>
            <a:ext cx="11125200" cy="6858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85800" y="43815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300" b="1">
                <a:solidFill>
                  <a:srgbClr val="F5B301"/>
                </a:solidFill>
                <a:latin typeface="Malgun Gothic"/>
                <a:ea typeface="Malgun Gothic"/>
              </a:rPr>
              <a:t>#4</a:t>
            </a:r>
            <a:endParaRPr lang="ko-KR" sz="2300"/>
          </a:p>
        </p:txBody>
      </p:sp>
      <p:sp>
        <p:nvSpPr>
          <p:cNvPr id="23" name="Text 23"/>
          <p:cNvSpPr txBox="1"/>
          <p:nvPr/>
        </p:nvSpPr>
        <p:spPr>
          <a:xfrm>
            <a:off x="1314450" y="43624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800" b="1">
                <a:solidFill>
                  <a:srgbClr val="F2F5F8"/>
                </a:solidFill>
                <a:latin typeface="Malgun Gothic"/>
                <a:ea typeface="Malgun Gothic"/>
              </a:rPr>
              <a:t>KoAct K수출핵심기업TOP30액티브 (0074K0)</a:t>
            </a:r>
            <a:endParaRPr lang="ko-KR" sz="1800"/>
          </a:p>
        </p:txBody>
      </p:sp>
      <p:sp>
        <p:nvSpPr>
          <p:cNvPr id="24" name="Text 24"/>
          <p:cNvSpPr txBox="1"/>
          <p:nvPr/>
        </p:nvSpPr>
        <p:spPr>
          <a:xfrm>
            <a:off x="1314450" y="4629150"/>
            <a:ext cx="590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>
                <a:solidFill>
                  <a:srgbClr val="9AA6B2"/>
                </a:solidFill>
                <a:latin typeface="Malgun Gothic"/>
                <a:ea typeface="Malgun Gothic"/>
              </a:rPr>
              <a:t>변화 38건 | 매수/증가 0건 | 매도/감소 38건</a:t>
            </a:r>
            <a:endParaRPr lang="ko-KR" sz="1300"/>
          </a:p>
        </p:txBody>
      </p:sp>
      <p:sp>
        <p:nvSpPr>
          <p:cNvPr id="25" name="Text 25"/>
          <p:cNvSpPr txBox="1"/>
          <p:nvPr/>
        </p:nvSpPr>
        <p:spPr>
          <a:xfrm>
            <a:off x="9067800" y="4419600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800" b="1">
                <a:solidFill>
                  <a:srgbClr val="3DD6E8"/>
                </a:solidFill>
                <a:latin typeface="Malgun Gothic"/>
                <a:ea typeface="Malgun Gothic"/>
              </a:rPr>
              <a:t>충격도 100.02pp</a:t>
            </a:r>
            <a:endParaRPr lang="ko-KR" sz="1800"/>
          </a:p>
        </p:txBody>
      </p:sp>
      <p:sp>
        <p:nvSpPr>
          <p:cNvPr id="26" name="Panel 26"/>
          <p:cNvSpPr/>
          <p:nvPr/>
        </p:nvSpPr>
        <p:spPr>
          <a:xfrm>
            <a:off x="514350" y="5105400"/>
            <a:ext cx="11125200" cy="6858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85800" y="523875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300" b="1">
                <a:solidFill>
                  <a:srgbClr val="F5B301"/>
                </a:solidFill>
                <a:latin typeface="Malgun Gothic"/>
                <a:ea typeface="Malgun Gothic"/>
              </a:rPr>
              <a:t>#5</a:t>
            </a:r>
            <a:endParaRPr lang="ko-KR" sz="2300"/>
          </a:p>
        </p:txBody>
      </p:sp>
      <p:sp>
        <p:nvSpPr>
          <p:cNvPr id="28" name="Text 28"/>
          <p:cNvSpPr txBox="1"/>
          <p:nvPr/>
        </p:nvSpPr>
        <p:spPr>
          <a:xfrm>
            <a:off x="1314450" y="5219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800" b="1">
                <a:solidFill>
                  <a:srgbClr val="F2F5F8"/>
                </a:solidFill>
                <a:latin typeface="Malgun Gothic"/>
                <a:ea typeface="Malgun Gothic"/>
              </a:rPr>
              <a:t>KoAct 코리아밸류업액티브 (495230)</a:t>
            </a:r>
            <a:endParaRPr lang="ko-KR" sz="1800"/>
          </a:p>
        </p:txBody>
      </p:sp>
      <p:sp>
        <p:nvSpPr>
          <p:cNvPr id="29" name="Text 29"/>
          <p:cNvSpPr txBox="1"/>
          <p:nvPr/>
        </p:nvSpPr>
        <p:spPr>
          <a:xfrm>
            <a:off x="1314450" y="5486400"/>
            <a:ext cx="590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>
                <a:solidFill>
                  <a:srgbClr val="9AA6B2"/>
                </a:solidFill>
                <a:latin typeface="Malgun Gothic"/>
                <a:ea typeface="Malgun Gothic"/>
              </a:rPr>
              <a:t>변화 80건 | 매수/증가 0건 | 매도/감소 78건</a:t>
            </a:r>
            <a:endParaRPr lang="ko-KR" sz="1300"/>
          </a:p>
        </p:txBody>
      </p:sp>
      <p:sp>
        <p:nvSpPr>
          <p:cNvPr id="30" name="Text 30"/>
          <p:cNvSpPr txBox="1"/>
          <p:nvPr/>
        </p:nvSpPr>
        <p:spPr>
          <a:xfrm>
            <a:off x="9067800" y="5276850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800" b="1">
                <a:solidFill>
                  <a:srgbClr val="3DD6E8"/>
                </a:solidFill>
                <a:latin typeface="Malgun Gothic"/>
                <a:ea typeface="Malgun Gothic"/>
              </a:rPr>
              <a:t>충격도 100.02pp</a:t>
            </a:r>
            <a:endParaRPr lang="ko-K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3850" y="190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 b="1">
                <a:solidFill>
                  <a:srgbClr val="F5B301"/>
                </a:solidFill>
                <a:latin typeface="Malgun Gothic"/>
                <a:ea typeface="Malgun Gothic"/>
              </a:rPr>
              <a:t>BUY / INCREASE WATCH</a:t>
            </a:r>
            <a:endParaRPr lang="ko-KR" sz="1300"/>
          </a:p>
        </p:txBody>
      </p:sp>
      <p:sp>
        <p:nvSpPr>
          <p:cNvPr id="3" name="Text 3"/>
          <p:cNvSpPr txBox="1"/>
          <p:nvPr/>
        </p:nvSpPr>
        <p:spPr>
          <a:xfrm>
            <a:off x="323850" y="476250"/>
            <a:ext cx="93345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비중이 늘어난 종목 TOP 10</a:t>
            </a:r>
            <a:endParaRPr lang="ko-KR" sz="3000"/>
          </a:p>
        </p:txBody>
      </p:sp>
      <p:sp>
        <p:nvSpPr>
          <p:cNvPr id="4" name="Text 4"/>
          <p:cNvSpPr txBox="1"/>
          <p:nvPr/>
        </p:nvSpPr>
        <p:spPr>
          <a:xfrm>
            <a:off x="342900" y="108585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00">
                <a:solidFill>
                  <a:srgbClr val="9AA6B2"/>
                </a:solidFill>
                <a:latin typeface="Malgun Gothic"/>
                <a:ea typeface="Malgun Gothic"/>
              </a:rPr>
              <a:t>신규 편입과 비중 증가를 함께 표시</a:t>
            </a:r>
            <a:endParaRPr lang="ko-KR" sz="1500"/>
          </a:p>
        </p:txBody>
      </p:sp>
      <p:sp>
        <p:nvSpPr>
          <p:cNvPr id="5" name="Panel 5"/>
          <p:cNvSpPr/>
          <p:nvPr/>
        </p:nvSpPr>
        <p:spPr>
          <a:xfrm>
            <a:off x="323850" y="1428750"/>
            <a:ext cx="11525250" cy="19050"/>
          </a:xfrm>
          <a:prstGeom prst="rect">
            <a:avLst/>
          </a:prstGeom>
          <a:solidFill>
            <a:srgbClr val="F5B301"/>
          </a:solidFill>
          <a:ln w="9525">
            <a:solidFill>
              <a:srgbClr val="F5B301"/>
            </a:solidFill>
          </a:ln>
        </p:spPr>
        <p:txBody>
          <a:bodyPr/>
          <a:lstStyle/>
          <a:p/>
        </p:txBody>
      </p:sp>
      <p:sp>
        <p:nvSpPr>
          <p:cNvPr id="6" name="Panel 6"/>
          <p:cNvSpPr/>
          <p:nvPr/>
        </p:nvSpPr>
        <p:spPr>
          <a:xfrm>
            <a:off x="400050" y="1666875"/>
            <a:ext cx="2381250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466725" y="17526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ETF</a:t>
            </a:r>
            <a:endParaRPr lang="ko-KR" sz="1100"/>
          </a:p>
        </p:txBody>
      </p:sp>
      <p:sp>
        <p:nvSpPr>
          <p:cNvPr id="8" name="Panel 8"/>
          <p:cNvSpPr/>
          <p:nvPr/>
        </p:nvSpPr>
        <p:spPr>
          <a:xfrm>
            <a:off x="2781300" y="1666875"/>
            <a:ext cx="3095625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847975" y="17526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종목</a:t>
            </a:r>
            <a:endParaRPr lang="ko-KR" sz="1100"/>
          </a:p>
        </p:txBody>
      </p:sp>
      <p:sp>
        <p:nvSpPr>
          <p:cNvPr id="10" name="Panel 10"/>
          <p:cNvSpPr/>
          <p:nvPr/>
        </p:nvSpPr>
        <p:spPr>
          <a:xfrm>
            <a:off x="5876925" y="1666875"/>
            <a:ext cx="1047750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943600" y="17526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코드</a:t>
            </a:r>
            <a:endParaRPr lang="ko-KR" sz="1100"/>
          </a:p>
        </p:txBody>
      </p:sp>
      <p:sp>
        <p:nvSpPr>
          <p:cNvPr id="12" name="Panel 12"/>
          <p:cNvSpPr/>
          <p:nvPr/>
        </p:nvSpPr>
        <p:spPr>
          <a:xfrm>
            <a:off x="6924675" y="1666875"/>
            <a:ext cx="1143000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991350" y="17526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이전</a:t>
            </a:r>
            <a:endParaRPr lang="ko-KR" sz="1100"/>
          </a:p>
        </p:txBody>
      </p:sp>
      <p:sp>
        <p:nvSpPr>
          <p:cNvPr id="14" name="Panel 14"/>
          <p:cNvSpPr/>
          <p:nvPr/>
        </p:nvSpPr>
        <p:spPr>
          <a:xfrm>
            <a:off x="8067675" y="1666875"/>
            <a:ext cx="1143000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8134350" y="17526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현재</a:t>
            </a:r>
            <a:endParaRPr lang="ko-KR" sz="1100"/>
          </a:p>
        </p:txBody>
      </p:sp>
      <p:sp>
        <p:nvSpPr>
          <p:cNvPr id="16" name="Panel 16"/>
          <p:cNvSpPr/>
          <p:nvPr/>
        </p:nvSpPr>
        <p:spPr>
          <a:xfrm>
            <a:off x="9210675" y="1666875"/>
            <a:ext cx="1285875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277350" y="17526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변화</a:t>
            </a:r>
            <a:endParaRPr lang="ko-KR" sz="1100"/>
          </a:p>
        </p:txBody>
      </p:sp>
      <p:sp>
        <p:nvSpPr>
          <p:cNvPr id="18" name="Panel 18"/>
          <p:cNvSpPr/>
          <p:nvPr/>
        </p:nvSpPr>
        <p:spPr>
          <a:xfrm>
            <a:off x="400050" y="20288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66725" y="21145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VITA MZ소비액티브</a:t>
            </a:r>
            <a:endParaRPr lang="ko-KR" sz="1100"/>
          </a:p>
        </p:txBody>
      </p:sp>
      <p:sp>
        <p:nvSpPr>
          <p:cNvPr id="20" name="Panel 20"/>
          <p:cNvSpPr/>
          <p:nvPr/>
        </p:nvSpPr>
        <p:spPr>
          <a:xfrm>
            <a:off x="2781300" y="20288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2847975" y="21145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증가 원화현금</a:t>
            </a:r>
            <a:endParaRPr lang="ko-KR" sz="1100"/>
          </a:p>
        </p:txBody>
      </p:sp>
      <p:sp>
        <p:nvSpPr>
          <p:cNvPr id="22" name="Panel 22"/>
          <p:cNvSpPr/>
          <p:nvPr/>
        </p:nvSpPr>
        <p:spPr>
          <a:xfrm>
            <a:off x="5876925" y="20288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5943600" y="21145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24" name="Panel 24"/>
          <p:cNvSpPr/>
          <p:nvPr/>
        </p:nvSpPr>
        <p:spPr>
          <a:xfrm>
            <a:off x="6924675" y="20288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6991350" y="21145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2.34%</a:t>
            </a:r>
            <a:endParaRPr lang="ko-KR" sz="1100"/>
          </a:p>
        </p:txBody>
      </p:sp>
      <p:sp>
        <p:nvSpPr>
          <p:cNvPr id="26" name="Panel 26"/>
          <p:cNvSpPr/>
          <p:nvPr/>
        </p:nvSpPr>
        <p:spPr>
          <a:xfrm>
            <a:off x="8067675" y="20288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134350" y="21145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13.75%</a:t>
            </a:r>
            <a:endParaRPr lang="ko-KR" sz="1100"/>
          </a:p>
        </p:txBody>
      </p:sp>
      <p:sp>
        <p:nvSpPr>
          <p:cNvPr id="28" name="Panel 28"/>
          <p:cNvSpPr/>
          <p:nvPr/>
        </p:nvSpPr>
        <p:spPr>
          <a:xfrm>
            <a:off x="9210675" y="20288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9277350" y="21145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+11.41pp</a:t>
            </a:r>
            <a:endParaRPr lang="ko-KR" sz="1100"/>
          </a:p>
        </p:txBody>
      </p:sp>
      <p:sp>
        <p:nvSpPr>
          <p:cNvPr id="30" name="Panel 30"/>
          <p:cNvSpPr/>
          <p:nvPr/>
        </p:nvSpPr>
        <p:spPr>
          <a:xfrm>
            <a:off x="400050" y="23907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466725" y="24765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VITA 밸류알파액티브</a:t>
            </a:r>
            <a:endParaRPr lang="ko-KR" sz="1100"/>
          </a:p>
        </p:txBody>
      </p:sp>
      <p:sp>
        <p:nvSpPr>
          <p:cNvPr id="32" name="Panel 32"/>
          <p:cNvSpPr/>
          <p:nvPr/>
        </p:nvSpPr>
        <p:spPr>
          <a:xfrm>
            <a:off x="2781300" y="23907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2847975" y="24765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증가 원화현금</a:t>
            </a:r>
            <a:endParaRPr lang="ko-KR" sz="1100"/>
          </a:p>
        </p:txBody>
      </p:sp>
      <p:sp>
        <p:nvSpPr>
          <p:cNvPr id="34" name="Panel 34"/>
          <p:cNvSpPr/>
          <p:nvPr/>
        </p:nvSpPr>
        <p:spPr>
          <a:xfrm>
            <a:off x="5876925" y="23907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5943600" y="24765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36" name="Panel 36"/>
          <p:cNvSpPr/>
          <p:nvPr/>
        </p:nvSpPr>
        <p:spPr>
          <a:xfrm>
            <a:off x="6924675" y="23907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6991350" y="24765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8.52%</a:t>
            </a:r>
            <a:endParaRPr lang="ko-KR" sz="1100"/>
          </a:p>
        </p:txBody>
      </p:sp>
      <p:sp>
        <p:nvSpPr>
          <p:cNvPr id="38" name="Panel 38"/>
          <p:cNvSpPr/>
          <p:nvPr/>
        </p:nvSpPr>
        <p:spPr>
          <a:xfrm>
            <a:off x="8067675" y="23907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8134350" y="24765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18.11%</a:t>
            </a:r>
            <a:endParaRPr lang="ko-KR" sz="1100"/>
          </a:p>
        </p:txBody>
      </p:sp>
      <p:sp>
        <p:nvSpPr>
          <p:cNvPr id="40" name="Panel 40"/>
          <p:cNvSpPr/>
          <p:nvPr/>
        </p:nvSpPr>
        <p:spPr>
          <a:xfrm>
            <a:off x="9210675" y="23907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9277350" y="24765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+9.59pp</a:t>
            </a:r>
            <a:endParaRPr lang="ko-KR" sz="1100"/>
          </a:p>
        </p:txBody>
      </p:sp>
      <p:sp>
        <p:nvSpPr>
          <p:cNvPr id="42" name="Panel 42"/>
          <p:cNvSpPr/>
          <p:nvPr/>
        </p:nvSpPr>
        <p:spPr>
          <a:xfrm>
            <a:off x="400050" y="27527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466725" y="28384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TIGER 퓨처모빌리티액티브</a:t>
            </a:r>
            <a:endParaRPr lang="ko-KR" sz="1100"/>
          </a:p>
        </p:txBody>
      </p:sp>
      <p:sp>
        <p:nvSpPr>
          <p:cNvPr id="44" name="Panel 44"/>
          <p:cNvSpPr/>
          <p:nvPr/>
        </p:nvSpPr>
        <p:spPr>
          <a:xfrm>
            <a:off x="2781300" y="27527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2847975" y="28384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신규 POSCO홀딩스</a:t>
            </a:r>
            <a:endParaRPr lang="ko-KR" sz="1100"/>
          </a:p>
        </p:txBody>
      </p:sp>
      <p:sp>
        <p:nvSpPr>
          <p:cNvPr id="46" name="Panel 46"/>
          <p:cNvSpPr/>
          <p:nvPr/>
        </p:nvSpPr>
        <p:spPr>
          <a:xfrm>
            <a:off x="5876925" y="27527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5943600" y="28384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005490</a:t>
            </a:r>
            <a:endParaRPr lang="ko-KR" sz="1100"/>
          </a:p>
        </p:txBody>
      </p:sp>
      <p:sp>
        <p:nvSpPr>
          <p:cNvPr id="48" name="Panel 48"/>
          <p:cNvSpPr/>
          <p:nvPr/>
        </p:nvSpPr>
        <p:spPr>
          <a:xfrm>
            <a:off x="6924675" y="27527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6991350" y="28384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50" name="Panel 50"/>
          <p:cNvSpPr/>
          <p:nvPr/>
        </p:nvSpPr>
        <p:spPr>
          <a:xfrm>
            <a:off x="8067675" y="27527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8134350" y="28384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4.00%</a:t>
            </a:r>
            <a:endParaRPr lang="ko-KR" sz="1100"/>
          </a:p>
        </p:txBody>
      </p:sp>
      <p:sp>
        <p:nvSpPr>
          <p:cNvPr id="52" name="Panel 52"/>
          <p:cNvSpPr/>
          <p:nvPr/>
        </p:nvSpPr>
        <p:spPr>
          <a:xfrm>
            <a:off x="9210675" y="27527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9277350" y="28384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+4.00pp</a:t>
            </a:r>
            <a:endParaRPr lang="ko-KR" sz="1100"/>
          </a:p>
        </p:txBody>
      </p:sp>
      <p:sp>
        <p:nvSpPr>
          <p:cNvPr id="54" name="Panel 54"/>
          <p:cNvSpPr/>
          <p:nvPr/>
        </p:nvSpPr>
        <p:spPr>
          <a:xfrm>
            <a:off x="400050" y="31146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466725" y="32004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에셋플러스 코리아대장장이액티브</a:t>
            </a:r>
            <a:endParaRPr lang="ko-KR" sz="1100"/>
          </a:p>
        </p:txBody>
      </p:sp>
      <p:sp>
        <p:nvSpPr>
          <p:cNvPr id="56" name="Panel 56"/>
          <p:cNvSpPr/>
          <p:nvPr/>
        </p:nvSpPr>
        <p:spPr>
          <a:xfrm>
            <a:off x="2781300" y="31146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2847975" y="32004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증가 원화현금</a:t>
            </a:r>
            <a:endParaRPr lang="ko-KR" sz="1100"/>
          </a:p>
        </p:txBody>
      </p:sp>
      <p:sp>
        <p:nvSpPr>
          <p:cNvPr id="58" name="Panel 58"/>
          <p:cNvSpPr/>
          <p:nvPr/>
        </p:nvSpPr>
        <p:spPr>
          <a:xfrm>
            <a:off x="5876925" y="31146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5943600" y="32004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60" name="Panel 60"/>
          <p:cNvSpPr/>
          <p:nvPr/>
        </p:nvSpPr>
        <p:spPr>
          <a:xfrm>
            <a:off x="6924675" y="31146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6991350" y="32004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7.62%</a:t>
            </a:r>
            <a:endParaRPr lang="ko-KR" sz="1100"/>
          </a:p>
        </p:txBody>
      </p:sp>
      <p:sp>
        <p:nvSpPr>
          <p:cNvPr id="62" name="Panel 62"/>
          <p:cNvSpPr/>
          <p:nvPr/>
        </p:nvSpPr>
        <p:spPr>
          <a:xfrm>
            <a:off x="8067675" y="31146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8134350" y="32004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10.82%</a:t>
            </a:r>
            <a:endParaRPr lang="ko-KR" sz="1100"/>
          </a:p>
        </p:txBody>
      </p:sp>
      <p:sp>
        <p:nvSpPr>
          <p:cNvPr id="64" name="Panel 64"/>
          <p:cNvSpPr/>
          <p:nvPr/>
        </p:nvSpPr>
        <p:spPr>
          <a:xfrm>
            <a:off x="9210675" y="31146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9277350" y="32004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+3.20pp</a:t>
            </a:r>
            <a:endParaRPr lang="ko-KR" sz="1100"/>
          </a:p>
        </p:txBody>
      </p:sp>
      <p:sp>
        <p:nvSpPr>
          <p:cNvPr id="66" name="Panel 66"/>
          <p:cNvSpPr/>
          <p:nvPr/>
        </p:nvSpPr>
        <p:spPr>
          <a:xfrm>
            <a:off x="400050" y="34766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7" name="Text 67"/>
          <p:cNvSpPr txBox="1"/>
          <p:nvPr/>
        </p:nvSpPr>
        <p:spPr>
          <a:xfrm>
            <a:off x="466725" y="35623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TIME K바이오액티브</a:t>
            </a:r>
            <a:endParaRPr lang="ko-KR" sz="1100"/>
          </a:p>
        </p:txBody>
      </p:sp>
      <p:sp>
        <p:nvSpPr>
          <p:cNvPr id="68" name="Panel 68"/>
          <p:cNvSpPr/>
          <p:nvPr/>
        </p:nvSpPr>
        <p:spPr>
          <a:xfrm>
            <a:off x="2781300" y="34766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9" name="Text 69"/>
          <p:cNvSpPr txBox="1"/>
          <p:nvPr/>
        </p:nvSpPr>
        <p:spPr>
          <a:xfrm>
            <a:off x="2847975" y="35623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증가 원화현금</a:t>
            </a:r>
            <a:endParaRPr lang="ko-KR" sz="1100"/>
          </a:p>
        </p:txBody>
      </p:sp>
      <p:sp>
        <p:nvSpPr>
          <p:cNvPr id="70" name="Panel 70"/>
          <p:cNvSpPr/>
          <p:nvPr/>
        </p:nvSpPr>
        <p:spPr>
          <a:xfrm>
            <a:off x="5876925" y="34766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5943600" y="35623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72" name="Panel 72"/>
          <p:cNvSpPr/>
          <p:nvPr/>
        </p:nvSpPr>
        <p:spPr>
          <a:xfrm>
            <a:off x="6924675" y="34766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3" name="Text 73"/>
          <p:cNvSpPr txBox="1"/>
          <p:nvPr/>
        </p:nvSpPr>
        <p:spPr>
          <a:xfrm>
            <a:off x="6991350" y="35623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0.79%</a:t>
            </a:r>
            <a:endParaRPr lang="ko-KR" sz="1100"/>
          </a:p>
        </p:txBody>
      </p:sp>
      <p:sp>
        <p:nvSpPr>
          <p:cNvPr id="74" name="Panel 74"/>
          <p:cNvSpPr/>
          <p:nvPr/>
        </p:nvSpPr>
        <p:spPr>
          <a:xfrm>
            <a:off x="8067675" y="34766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8134350" y="35623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2.72%</a:t>
            </a:r>
            <a:endParaRPr lang="ko-KR" sz="1100"/>
          </a:p>
        </p:txBody>
      </p:sp>
      <p:sp>
        <p:nvSpPr>
          <p:cNvPr id="76" name="Panel 76"/>
          <p:cNvSpPr/>
          <p:nvPr/>
        </p:nvSpPr>
        <p:spPr>
          <a:xfrm>
            <a:off x="9210675" y="34766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7" name="Text 77"/>
          <p:cNvSpPr txBox="1"/>
          <p:nvPr/>
        </p:nvSpPr>
        <p:spPr>
          <a:xfrm>
            <a:off x="9277350" y="35623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+1.93pp</a:t>
            </a:r>
            <a:endParaRPr lang="ko-KR" sz="1100"/>
          </a:p>
        </p:txBody>
      </p:sp>
      <p:sp>
        <p:nvSpPr>
          <p:cNvPr id="78" name="Panel 78"/>
          <p:cNvSpPr/>
          <p:nvPr/>
        </p:nvSpPr>
        <p:spPr>
          <a:xfrm>
            <a:off x="400050" y="38385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9" name="Text 79"/>
          <p:cNvSpPr txBox="1"/>
          <p:nvPr/>
        </p:nvSpPr>
        <p:spPr>
          <a:xfrm>
            <a:off x="466725" y="39243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TIME 코스피액티브</a:t>
            </a:r>
            <a:endParaRPr lang="ko-KR" sz="1100"/>
          </a:p>
        </p:txBody>
      </p:sp>
      <p:sp>
        <p:nvSpPr>
          <p:cNvPr id="80" name="Panel 80"/>
          <p:cNvSpPr/>
          <p:nvPr/>
        </p:nvSpPr>
        <p:spPr>
          <a:xfrm>
            <a:off x="2781300" y="38385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1" name="Text 81"/>
          <p:cNvSpPr txBox="1"/>
          <p:nvPr/>
        </p:nvSpPr>
        <p:spPr>
          <a:xfrm>
            <a:off x="2847975" y="39243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신규 신세계</a:t>
            </a:r>
            <a:endParaRPr lang="ko-KR" sz="1100"/>
          </a:p>
        </p:txBody>
      </p:sp>
      <p:sp>
        <p:nvSpPr>
          <p:cNvPr id="82" name="Panel 82"/>
          <p:cNvSpPr/>
          <p:nvPr/>
        </p:nvSpPr>
        <p:spPr>
          <a:xfrm>
            <a:off x="5876925" y="38385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3" name="Text 83"/>
          <p:cNvSpPr txBox="1"/>
          <p:nvPr/>
        </p:nvSpPr>
        <p:spPr>
          <a:xfrm>
            <a:off x="5943600" y="39243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004170</a:t>
            </a:r>
            <a:endParaRPr lang="ko-KR" sz="1100"/>
          </a:p>
        </p:txBody>
      </p:sp>
      <p:sp>
        <p:nvSpPr>
          <p:cNvPr id="84" name="Panel 84"/>
          <p:cNvSpPr/>
          <p:nvPr/>
        </p:nvSpPr>
        <p:spPr>
          <a:xfrm>
            <a:off x="6924675" y="38385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5" name="Text 85"/>
          <p:cNvSpPr txBox="1"/>
          <p:nvPr/>
        </p:nvSpPr>
        <p:spPr>
          <a:xfrm>
            <a:off x="6991350" y="39243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86" name="Panel 86"/>
          <p:cNvSpPr/>
          <p:nvPr/>
        </p:nvSpPr>
        <p:spPr>
          <a:xfrm>
            <a:off x="8067675" y="38385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7" name="Text 87"/>
          <p:cNvSpPr txBox="1"/>
          <p:nvPr/>
        </p:nvSpPr>
        <p:spPr>
          <a:xfrm>
            <a:off x="8134350" y="39243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1.61%</a:t>
            </a:r>
            <a:endParaRPr lang="ko-KR" sz="1100"/>
          </a:p>
        </p:txBody>
      </p:sp>
      <p:sp>
        <p:nvSpPr>
          <p:cNvPr id="88" name="Panel 88"/>
          <p:cNvSpPr/>
          <p:nvPr/>
        </p:nvSpPr>
        <p:spPr>
          <a:xfrm>
            <a:off x="9210675" y="38385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9" name="Text 89"/>
          <p:cNvSpPr txBox="1"/>
          <p:nvPr/>
        </p:nvSpPr>
        <p:spPr>
          <a:xfrm>
            <a:off x="9277350" y="39243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+1.61pp</a:t>
            </a:r>
            <a:endParaRPr lang="ko-KR" sz="1100"/>
          </a:p>
        </p:txBody>
      </p:sp>
      <p:sp>
        <p:nvSpPr>
          <p:cNvPr id="90" name="Panel 90"/>
          <p:cNvSpPr/>
          <p:nvPr/>
        </p:nvSpPr>
        <p:spPr>
          <a:xfrm>
            <a:off x="400050" y="42005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1" name="Text 91"/>
          <p:cNvSpPr txBox="1"/>
          <p:nvPr/>
        </p:nvSpPr>
        <p:spPr>
          <a:xfrm>
            <a:off x="466725" y="42862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TIGER 코리아테크액티브</a:t>
            </a:r>
            <a:endParaRPr lang="ko-KR" sz="1100"/>
          </a:p>
        </p:txBody>
      </p:sp>
      <p:sp>
        <p:nvSpPr>
          <p:cNvPr id="92" name="Panel 92"/>
          <p:cNvSpPr/>
          <p:nvPr/>
        </p:nvSpPr>
        <p:spPr>
          <a:xfrm>
            <a:off x="2781300" y="42005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3" name="Text 93"/>
          <p:cNvSpPr txBox="1"/>
          <p:nvPr/>
        </p:nvSpPr>
        <p:spPr>
          <a:xfrm>
            <a:off x="2847975" y="42862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신규 주성엔지니어링</a:t>
            </a:r>
            <a:endParaRPr lang="ko-KR" sz="1100"/>
          </a:p>
        </p:txBody>
      </p:sp>
      <p:sp>
        <p:nvSpPr>
          <p:cNvPr id="94" name="Panel 94"/>
          <p:cNvSpPr/>
          <p:nvPr/>
        </p:nvSpPr>
        <p:spPr>
          <a:xfrm>
            <a:off x="5876925" y="42005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5" name="Text 95"/>
          <p:cNvSpPr txBox="1"/>
          <p:nvPr/>
        </p:nvSpPr>
        <p:spPr>
          <a:xfrm>
            <a:off x="5943600" y="42862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036930</a:t>
            </a:r>
            <a:endParaRPr lang="ko-KR" sz="1100"/>
          </a:p>
        </p:txBody>
      </p:sp>
      <p:sp>
        <p:nvSpPr>
          <p:cNvPr id="96" name="Panel 96"/>
          <p:cNvSpPr/>
          <p:nvPr/>
        </p:nvSpPr>
        <p:spPr>
          <a:xfrm>
            <a:off x="6924675" y="42005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7" name="Text 97"/>
          <p:cNvSpPr txBox="1"/>
          <p:nvPr/>
        </p:nvSpPr>
        <p:spPr>
          <a:xfrm>
            <a:off x="6991350" y="42862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98" name="Panel 98"/>
          <p:cNvSpPr/>
          <p:nvPr/>
        </p:nvSpPr>
        <p:spPr>
          <a:xfrm>
            <a:off x="8067675" y="42005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9" name="Text 99"/>
          <p:cNvSpPr txBox="1"/>
          <p:nvPr/>
        </p:nvSpPr>
        <p:spPr>
          <a:xfrm>
            <a:off x="8134350" y="42862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1.29%</a:t>
            </a:r>
            <a:endParaRPr lang="ko-KR" sz="1100"/>
          </a:p>
        </p:txBody>
      </p:sp>
      <p:sp>
        <p:nvSpPr>
          <p:cNvPr id="100" name="Panel 100"/>
          <p:cNvSpPr/>
          <p:nvPr/>
        </p:nvSpPr>
        <p:spPr>
          <a:xfrm>
            <a:off x="9210675" y="42005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1" name="Text 101"/>
          <p:cNvSpPr txBox="1"/>
          <p:nvPr/>
        </p:nvSpPr>
        <p:spPr>
          <a:xfrm>
            <a:off x="9277350" y="42862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+1.29pp</a:t>
            </a:r>
            <a:endParaRPr lang="ko-KR" sz="1100"/>
          </a:p>
        </p:txBody>
      </p:sp>
      <p:sp>
        <p:nvSpPr>
          <p:cNvPr id="102" name="Panel 102"/>
          <p:cNvSpPr/>
          <p:nvPr/>
        </p:nvSpPr>
        <p:spPr>
          <a:xfrm>
            <a:off x="400050" y="45624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3" name="Text 103"/>
          <p:cNvSpPr txBox="1"/>
          <p:nvPr/>
        </p:nvSpPr>
        <p:spPr>
          <a:xfrm>
            <a:off x="466725" y="46482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TIGER 퓨처모빌리티액티브</a:t>
            </a:r>
            <a:endParaRPr lang="ko-KR" sz="1100"/>
          </a:p>
        </p:txBody>
      </p:sp>
      <p:sp>
        <p:nvSpPr>
          <p:cNvPr id="104" name="Panel 104"/>
          <p:cNvSpPr/>
          <p:nvPr/>
        </p:nvSpPr>
        <p:spPr>
          <a:xfrm>
            <a:off x="2781300" y="45624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5" name="Text 105"/>
          <p:cNvSpPr txBox="1"/>
          <p:nvPr/>
        </p:nvSpPr>
        <p:spPr>
          <a:xfrm>
            <a:off x="2847975" y="46482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증가 LG에너지솔루션</a:t>
            </a:r>
            <a:endParaRPr lang="ko-KR" sz="1100"/>
          </a:p>
        </p:txBody>
      </p:sp>
      <p:sp>
        <p:nvSpPr>
          <p:cNvPr id="106" name="Panel 106"/>
          <p:cNvSpPr/>
          <p:nvPr/>
        </p:nvSpPr>
        <p:spPr>
          <a:xfrm>
            <a:off x="5876925" y="45624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7" name="Text 107"/>
          <p:cNvSpPr txBox="1"/>
          <p:nvPr/>
        </p:nvSpPr>
        <p:spPr>
          <a:xfrm>
            <a:off x="5943600" y="46482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373220</a:t>
            </a:r>
            <a:endParaRPr lang="ko-KR" sz="1100"/>
          </a:p>
        </p:txBody>
      </p:sp>
      <p:sp>
        <p:nvSpPr>
          <p:cNvPr id="108" name="Panel 108"/>
          <p:cNvSpPr/>
          <p:nvPr/>
        </p:nvSpPr>
        <p:spPr>
          <a:xfrm>
            <a:off x="6924675" y="45624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9" name="Text 109"/>
          <p:cNvSpPr txBox="1"/>
          <p:nvPr/>
        </p:nvSpPr>
        <p:spPr>
          <a:xfrm>
            <a:off x="6991350" y="46482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5.96%</a:t>
            </a:r>
            <a:endParaRPr lang="ko-KR" sz="1100"/>
          </a:p>
        </p:txBody>
      </p:sp>
      <p:sp>
        <p:nvSpPr>
          <p:cNvPr id="110" name="Panel 110"/>
          <p:cNvSpPr/>
          <p:nvPr/>
        </p:nvSpPr>
        <p:spPr>
          <a:xfrm>
            <a:off x="8067675" y="45624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1" name="Text 111"/>
          <p:cNvSpPr txBox="1"/>
          <p:nvPr/>
        </p:nvSpPr>
        <p:spPr>
          <a:xfrm>
            <a:off x="8134350" y="46482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7.16%</a:t>
            </a:r>
            <a:endParaRPr lang="ko-KR" sz="1100"/>
          </a:p>
        </p:txBody>
      </p:sp>
      <p:sp>
        <p:nvSpPr>
          <p:cNvPr id="112" name="Panel 112"/>
          <p:cNvSpPr/>
          <p:nvPr/>
        </p:nvSpPr>
        <p:spPr>
          <a:xfrm>
            <a:off x="9210675" y="45624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3" name="Text 113"/>
          <p:cNvSpPr txBox="1"/>
          <p:nvPr/>
        </p:nvSpPr>
        <p:spPr>
          <a:xfrm>
            <a:off x="9277350" y="46482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+1.20pp</a:t>
            </a:r>
            <a:endParaRPr lang="ko-KR" sz="1100"/>
          </a:p>
        </p:txBody>
      </p:sp>
      <p:sp>
        <p:nvSpPr>
          <p:cNvPr id="114" name="Panel 114"/>
          <p:cNvSpPr/>
          <p:nvPr/>
        </p:nvSpPr>
        <p:spPr>
          <a:xfrm>
            <a:off x="400050" y="49244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5" name="Text 115"/>
          <p:cNvSpPr txBox="1"/>
          <p:nvPr/>
        </p:nvSpPr>
        <p:spPr>
          <a:xfrm>
            <a:off x="466725" y="50101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TIGER 퓨처모빌리티액티브</a:t>
            </a:r>
            <a:endParaRPr lang="ko-KR" sz="1100"/>
          </a:p>
        </p:txBody>
      </p:sp>
      <p:sp>
        <p:nvSpPr>
          <p:cNvPr id="116" name="Panel 116"/>
          <p:cNvSpPr/>
          <p:nvPr/>
        </p:nvSpPr>
        <p:spPr>
          <a:xfrm>
            <a:off x="2781300" y="49244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7" name="Text 117"/>
          <p:cNvSpPr txBox="1"/>
          <p:nvPr/>
        </p:nvSpPr>
        <p:spPr>
          <a:xfrm>
            <a:off x="2847975" y="50101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증가 에코프로비엠</a:t>
            </a:r>
            <a:endParaRPr lang="ko-KR" sz="1100"/>
          </a:p>
        </p:txBody>
      </p:sp>
      <p:sp>
        <p:nvSpPr>
          <p:cNvPr id="118" name="Panel 118"/>
          <p:cNvSpPr/>
          <p:nvPr/>
        </p:nvSpPr>
        <p:spPr>
          <a:xfrm>
            <a:off x="5876925" y="49244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9" name="Text 119"/>
          <p:cNvSpPr txBox="1"/>
          <p:nvPr/>
        </p:nvSpPr>
        <p:spPr>
          <a:xfrm>
            <a:off x="5943600" y="50101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247540</a:t>
            </a:r>
            <a:endParaRPr lang="ko-KR" sz="1100"/>
          </a:p>
        </p:txBody>
      </p:sp>
      <p:sp>
        <p:nvSpPr>
          <p:cNvPr id="120" name="Panel 120"/>
          <p:cNvSpPr/>
          <p:nvPr/>
        </p:nvSpPr>
        <p:spPr>
          <a:xfrm>
            <a:off x="6924675" y="49244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1" name="Text 121"/>
          <p:cNvSpPr txBox="1"/>
          <p:nvPr/>
        </p:nvSpPr>
        <p:spPr>
          <a:xfrm>
            <a:off x="6991350" y="50101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3.88%</a:t>
            </a:r>
            <a:endParaRPr lang="ko-KR" sz="1100"/>
          </a:p>
        </p:txBody>
      </p:sp>
      <p:sp>
        <p:nvSpPr>
          <p:cNvPr id="122" name="Panel 122"/>
          <p:cNvSpPr/>
          <p:nvPr/>
        </p:nvSpPr>
        <p:spPr>
          <a:xfrm>
            <a:off x="8067675" y="49244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3" name="Text 123"/>
          <p:cNvSpPr txBox="1"/>
          <p:nvPr/>
        </p:nvSpPr>
        <p:spPr>
          <a:xfrm>
            <a:off x="8134350" y="50101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4.86%</a:t>
            </a:r>
            <a:endParaRPr lang="ko-KR" sz="1100"/>
          </a:p>
        </p:txBody>
      </p:sp>
      <p:sp>
        <p:nvSpPr>
          <p:cNvPr id="124" name="Panel 124"/>
          <p:cNvSpPr/>
          <p:nvPr/>
        </p:nvSpPr>
        <p:spPr>
          <a:xfrm>
            <a:off x="9210675" y="49244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5" name="Text 125"/>
          <p:cNvSpPr txBox="1"/>
          <p:nvPr/>
        </p:nvSpPr>
        <p:spPr>
          <a:xfrm>
            <a:off x="9277350" y="50101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+0.98pp</a:t>
            </a:r>
            <a:endParaRPr lang="ko-KR" sz="1100"/>
          </a:p>
        </p:txBody>
      </p:sp>
      <p:sp>
        <p:nvSpPr>
          <p:cNvPr id="126" name="Panel 126"/>
          <p:cNvSpPr/>
          <p:nvPr/>
        </p:nvSpPr>
        <p:spPr>
          <a:xfrm>
            <a:off x="400050" y="52863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7" name="Text 127"/>
          <p:cNvSpPr txBox="1"/>
          <p:nvPr/>
        </p:nvSpPr>
        <p:spPr>
          <a:xfrm>
            <a:off x="466725" y="53721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TIGER 코리아테크액티브</a:t>
            </a:r>
            <a:endParaRPr lang="ko-KR" sz="1100"/>
          </a:p>
        </p:txBody>
      </p:sp>
      <p:sp>
        <p:nvSpPr>
          <p:cNvPr id="128" name="Panel 128"/>
          <p:cNvSpPr/>
          <p:nvPr/>
        </p:nvSpPr>
        <p:spPr>
          <a:xfrm>
            <a:off x="2781300" y="52863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9" name="Text 129"/>
          <p:cNvSpPr txBox="1"/>
          <p:nvPr/>
        </p:nvSpPr>
        <p:spPr>
          <a:xfrm>
            <a:off x="2847975" y="53721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증가 나노신소재</a:t>
            </a:r>
            <a:endParaRPr lang="ko-KR" sz="1100"/>
          </a:p>
        </p:txBody>
      </p:sp>
      <p:sp>
        <p:nvSpPr>
          <p:cNvPr id="130" name="Panel 130"/>
          <p:cNvSpPr/>
          <p:nvPr/>
        </p:nvSpPr>
        <p:spPr>
          <a:xfrm>
            <a:off x="5876925" y="52863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1" name="Text 131"/>
          <p:cNvSpPr txBox="1"/>
          <p:nvPr/>
        </p:nvSpPr>
        <p:spPr>
          <a:xfrm>
            <a:off x="5943600" y="53721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121600</a:t>
            </a:r>
            <a:endParaRPr lang="ko-KR" sz="1100"/>
          </a:p>
        </p:txBody>
      </p:sp>
      <p:sp>
        <p:nvSpPr>
          <p:cNvPr id="132" name="Panel 132"/>
          <p:cNvSpPr/>
          <p:nvPr/>
        </p:nvSpPr>
        <p:spPr>
          <a:xfrm>
            <a:off x="6924675" y="52863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3" name="Text 133"/>
          <p:cNvSpPr txBox="1"/>
          <p:nvPr/>
        </p:nvSpPr>
        <p:spPr>
          <a:xfrm>
            <a:off x="6991350" y="53721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1.00%</a:t>
            </a:r>
            <a:endParaRPr lang="ko-KR" sz="1100"/>
          </a:p>
        </p:txBody>
      </p:sp>
      <p:sp>
        <p:nvSpPr>
          <p:cNvPr id="134" name="Panel 134"/>
          <p:cNvSpPr/>
          <p:nvPr/>
        </p:nvSpPr>
        <p:spPr>
          <a:xfrm>
            <a:off x="8067675" y="52863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5" name="Text 135"/>
          <p:cNvSpPr txBox="1"/>
          <p:nvPr/>
        </p:nvSpPr>
        <p:spPr>
          <a:xfrm>
            <a:off x="8134350" y="53721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1.97%</a:t>
            </a:r>
            <a:endParaRPr lang="ko-KR" sz="1100"/>
          </a:p>
        </p:txBody>
      </p:sp>
      <p:sp>
        <p:nvSpPr>
          <p:cNvPr id="136" name="Panel 136"/>
          <p:cNvSpPr/>
          <p:nvPr/>
        </p:nvSpPr>
        <p:spPr>
          <a:xfrm>
            <a:off x="9210675" y="52863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7" name="Text 137"/>
          <p:cNvSpPr txBox="1"/>
          <p:nvPr/>
        </p:nvSpPr>
        <p:spPr>
          <a:xfrm>
            <a:off x="9277350" y="53721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19C37D"/>
                </a:solidFill>
                <a:latin typeface="Malgun Gothic"/>
                <a:ea typeface="Malgun Gothic"/>
              </a:rPr>
              <a:t>+0.97pp</a:t>
            </a:r>
            <a:endParaRPr lang="ko-KR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3850" y="190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 b="1">
                <a:solidFill>
                  <a:srgbClr val="F5B301"/>
                </a:solidFill>
                <a:latin typeface="Malgun Gothic"/>
                <a:ea typeface="Malgun Gothic"/>
              </a:rPr>
              <a:t>SELL / DECREASE WATCH</a:t>
            </a:r>
            <a:endParaRPr lang="ko-KR" sz="1300"/>
          </a:p>
        </p:txBody>
      </p:sp>
      <p:sp>
        <p:nvSpPr>
          <p:cNvPr id="3" name="Text 3"/>
          <p:cNvSpPr txBox="1"/>
          <p:nvPr/>
        </p:nvSpPr>
        <p:spPr>
          <a:xfrm>
            <a:off x="323850" y="476250"/>
            <a:ext cx="93345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비중이 줄어든 종목 TOP 10</a:t>
            </a:r>
            <a:endParaRPr lang="ko-KR" sz="3000"/>
          </a:p>
        </p:txBody>
      </p:sp>
      <p:sp>
        <p:nvSpPr>
          <p:cNvPr id="4" name="Text 4"/>
          <p:cNvSpPr txBox="1"/>
          <p:nvPr/>
        </p:nvSpPr>
        <p:spPr>
          <a:xfrm>
            <a:off x="342900" y="108585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00">
                <a:solidFill>
                  <a:srgbClr val="9AA6B2"/>
                </a:solidFill>
                <a:latin typeface="Malgun Gothic"/>
                <a:ea typeface="Malgun Gothic"/>
              </a:rPr>
              <a:t>제외 종목과 비중 감소를 함께 표시</a:t>
            </a:r>
            <a:endParaRPr lang="ko-KR" sz="1500"/>
          </a:p>
        </p:txBody>
      </p:sp>
      <p:sp>
        <p:nvSpPr>
          <p:cNvPr id="5" name="Panel 5"/>
          <p:cNvSpPr/>
          <p:nvPr/>
        </p:nvSpPr>
        <p:spPr>
          <a:xfrm>
            <a:off x="323850" y="1428750"/>
            <a:ext cx="11525250" cy="19050"/>
          </a:xfrm>
          <a:prstGeom prst="rect">
            <a:avLst/>
          </a:prstGeom>
          <a:solidFill>
            <a:srgbClr val="F5B301"/>
          </a:solidFill>
          <a:ln w="9525">
            <a:solidFill>
              <a:srgbClr val="F5B301"/>
            </a:solidFill>
          </a:ln>
        </p:spPr>
        <p:txBody>
          <a:bodyPr/>
          <a:lstStyle/>
          <a:p/>
        </p:txBody>
      </p:sp>
      <p:sp>
        <p:nvSpPr>
          <p:cNvPr id="6" name="Panel 6"/>
          <p:cNvSpPr/>
          <p:nvPr/>
        </p:nvSpPr>
        <p:spPr>
          <a:xfrm>
            <a:off x="400050" y="1666875"/>
            <a:ext cx="2381250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466725" y="17526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ETF</a:t>
            </a:r>
            <a:endParaRPr lang="ko-KR" sz="1100"/>
          </a:p>
        </p:txBody>
      </p:sp>
      <p:sp>
        <p:nvSpPr>
          <p:cNvPr id="8" name="Panel 8"/>
          <p:cNvSpPr/>
          <p:nvPr/>
        </p:nvSpPr>
        <p:spPr>
          <a:xfrm>
            <a:off x="2781300" y="1666875"/>
            <a:ext cx="3095625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847975" y="17526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종목</a:t>
            </a:r>
            <a:endParaRPr lang="ko-KR" sz="1100"/>
          </a:p>
        </p:txBody>
      </p:sp>
      <p:sp>
        <p:nvSpPr>
          <p:cNvPr id="10" name="Panel 10"/>
          <p:cNvSpPr/>
          <p:nvPr/>
        </p:nvSpPr>
        <p:spPr>
          <a:xfrm>
            <a:off x="5876925" y="1666875"/>
            <a:ext cx="1047750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943600" y="17526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코드</a:t>
            </a:r>
            <a:endParaRPr lang="ko-KR" sz="1100"/>
          </a:p>
        </p:txBody>
      </p:sp>
      <p:sp>
        <p:nvSpPr>
          <p:cNvPr id="12" name="Panel 12"/>
          <p:cNvSpPr/>
          <p:nvPr/>
        </p:nvSpPr>
        <p:spPr>
          <a:xfrm>
            <a:off x="6924675" y="1666875"/>
            <a:ext cx="1143000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991350" y="17526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이전</a:t>
            </a:r>
            <a:endParaRPr lang="ko-KR" sz="1100"/>
          </a:p>
        </p:txBody>
      </p:sp>
      <p:sp>
        <p:nvSpPr>
          <p:cNvPr id="14" name="Panel 14"/>
          <p:cNvSpPr/>
          <p:nvPr/>
        </p:nvSpPr>
        <p:spPr>
          <a:xfrm>
            <a:off x="8067675" y="1666875"/>
            <a:ext cx="1143000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8134350" y="17526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현재</a:t>
            </a:r>
            <a:endParaRPr lang="ko-KR" sz="1100"/>
          </a:p>
        </p:txBody>
      </p:sp>
      <p:sp>
        <p:nvSpPr>
          <p:cNvPr id="16" name="Panel 16"/>
          <p:cNvSpPr/>
          <p:nvPr/>
        </p:nvSpPr>
        <p:spPr>
          <a:xfrm>
            <a:off x="9210675" y="1666875"/>
            <a:ext cx="1285875" cy="361950"/>
          </a:xfrm>
          <a:prstGeom prst="rect">
            <a:avLst/>
          </a:prstGeom>
          <a:solidFill>
            <a:srgbClr val="191F27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277350" y="17526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 b="1">
                <a:solidFill>
                  <a:srgbClr val="F5B301"/>
                </a:solidFill>
                <a:latin typeface="Malgun Gothic"/>
                <a:ea typeface="Malgun Gothic"/>
              </a:rPr>
              <a:t>변화</a:t>
            </a:r>
            <a:endParaRPr lang="ko-KR" sz="1100"/>
          </a:p>
        </p:txBody>
      </p:sp>
      <p:sp>
        <p:nvSpPr>
          <p:cNvPr id="18" name="Panel 18"/>
          <p:cNvSpPr/>
          <p:nvPr/>
        </p:nvSpPr>
        <p:spPr>
          <a:xfrm>
            <a:off x="400050" y="20288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66725" y="21145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1Q CD금리액티브(합성)</a:t>
            </a:r>
            <a:endParaRPr lang="ko-KR" sz="1100"/>
          </a:p>
        </p:txBody>
      </p:sp>
      <p:sp>
        <p:nvSpPr>
          <p:cNvPr id="20" name="Panel 20"/>
          <p:cNvSpPr/>
          <p:nvPr/>
        </p:nvSpPr>
        <p:spPr>
          <a:xfrm>
            <a:off x="2781300" y="20288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2847975" y="21145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22" name="Panel 22"/>
          <p:cNvSpPr/>
          <p:nvPr/>
        </p:nvSpPr>
        <p:spPr>
          <a:xfrm>
            <a:off x="5876925" y="20288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5943600" y="21145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24" name="Panel 24"/>
          <p:cNvSpPr/>
          <p:nvPr/>
        </p:nvSpPr>
        <p:spPr>
          <a:xfrm>
            <a:off x="6924675" y="20288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6991350" y="21145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26" name="Panel 26"/>
          <p:cNvSpPr/>
          <p:nvPr/>
        </p:nvSpPr>
        <p:spPr>
          <a:xfrm>
            <a:off x="8067675" y="20288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134350" y="21145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28" name="Panel 28"/>
          <p:cNvSpPr/>
          <p:nvPr/>
        </p:nvSpPr>
        <p:spPr>
          <a:xfrm>
            <a:off x="9210675" y="20288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9277350" y="21145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30" name="Panel 30"/>
          <p:cNvSpPr/>
          <p:nvPr/>
        </p:nvSpPr>
        <p:spPr>
          <a:xfrm>
            <a:off x="400050" y="23907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466725" y="24765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HANARO KOFR금리액티브(합</a:t>
            </a:r>
            <a:endParaRPr lang="ko-KR" sz="1100"/>
          </a:p>
        </p:txBody>
      </p:sp>
      <p:sp>
        <p:nvSpPr>
          <p:cNvPr id="32" name="Panel 32"/>
          <p:cNvSpPr/>
          <p:nvPr/>
        </p:nvSpPr>
        <p:spPr>
          <a:xfrm>
            <a:off x="2781300" y="23907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2847975" y="24765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34" name="Panel 34"/>
          <p:cNvSpPr/>
          <p:nvPr/>
        </p:nvSpPr>
        <p:spPr>
          <a:xfrm>
            <a:off x="5876925" y="23907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5943600" y="24765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36" name="Panel 36"/>
          <p:cNvSpPr/>
          <p:nvPr/>
        </p:nvSpPr>
        <p:spPr>
          <a:xfrm>
            <a:off x="6924675" y="23907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6991350" y="24765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38" name="Panel 38"/>
          <p:cNvSpPr/>
          <p:nvPr/>
        </p:nvSpPr>
        <p:spPr>
          <a:xfrm>
            <a:off x="8067675" y="23907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8134350" y="24765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40" name="Panel 40"/>
          <p:cNvSpPr/>
          <p:nvPr/>
        </p:nvSpPr>
        <p:spPr>
          <a:xfrm>
            <a:off x="9210675" y="23907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9277350" y="24765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42" name="Panel 42"/>
          <p:cNvSpPr/>
          <p:nvPr/>
        </p:nvSpPr>
        <p:spPr>
          <a:xfrm>
            <a:off x="400050" y="27527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466725" y="28384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KIWOOM CD금리액티브(합성)</a:t>
            </a:r>
            <a:endParaRPr lang="ko-KR" sz="1100"/>
          </a:p>
        </p:txBody>
      </p:sp>
      <p:sp>
        <p:nvSpPr>
          <p:cNvPr id="44" name="Panel 44"/>
          <p:cNvSpPr/>
          <p:nvPr/>
        </p:nvSpPr>
        <p:spPr>
          <a:xfrm>
            <a:off x="2781300" y="27527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2847975" y="28384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46" name="Panel 46"/>
          <p:cNvSpPr/>
          <p:nvPr/>
        </p:nvSpPr>
        <p:spPr>
          <a:xfrm>
            <a:off x="5876925" y="27527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5943600" y="28384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48" name="Panel 48"/>
          <p:cNvSpPr/>
          <p:nvPr/>
        </p:nvSpPr>
        <p:spPr>
          <a:xfrm>
            <a:off x="6924675" y="27527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6991350" y="28384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50" name="Panel 50"/>
          <p:cNvSpPr/>
          <p:nvPr/>
        </p:nvSpPr>
        <p:spPr>
          <a:xfrm>
            <a:off x="8067675" y="27527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8134350" y="28384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52" name="Panel 52"/>
          <p:cNvSpPr/>
          <p:nvPr/>
        </p:nvSpPr>
        <p:spPr>
          <a:xfrm>
            <a:off x="9210675" y="27527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9277350" y="28384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54" name="Panel 54"/>
          <p:cNvSpPr/>
          <p:nvPr/>
        </p:nvSpPr>
        <p:spPr>
          <a:xfrm>
            <a:off x="400050" y="31146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466725" y="32004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KODEX CD1년금리플러스액티브</a:t>
            </a:r>
            <a:endParaRPr lang="ko-KR" sz="1100"/>
          </a:p>
        </p:txBody>
      </p:sp>
      <p:sp>
        <p:nvSpPr>
          <p:cNvPr id="56" name="Panel 56"/>
          <p:cNvSpPr/>
          <p:nvPr/>
        </p:nvSpPr>
        <p:spPr>
          <a:xfrm>
            <a:off x="2781300" y="31146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2847975" y="32004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58" name="Panel 58"/>
          <p:cNvSpPr/>
          <p:nvPr/>
        </p:nvSpPr>
        <p:spPr>
          <a:xfrm>
            <a:off x="5876925" y="31146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5943600" y="32004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60" name="Panel 60"/>
          <p:cNvSpPr/>
          <p:nvPr/>
        </p:nvSpPr>
        <p:spPr>
          <a:xfrm>
            <a:off x="6924675" y="31146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6991350" y="32004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62" name="Panel 62"/>
          <p:cNvSpPr/>
          <p:nvPr/>
        </p:nvSpPr>
        <p:spPr>
          <a:xfrm>
            <a:off x="8067675" y="31146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8134350" y="32004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64" name="Panel 64"/>
          <p:cNvSpPr/>
          <p:nvPr/>
        </p:nvSpPr>
        <p:spPr>
          <a:xfrm>
            <a:off x="9210675" y="31146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9277350" y="32004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66" name="Panel 66"/>
          <p:cNvSpPr/>
          <p:nvPr/>
        </p:nvSpPr>
        <p:spPr>
          <a:xfrm>
            <a:off x="400050" y="34766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7" name="Text 67"/>
          <p:cNvSpPr txBox="1"/>
          <p:nvPr/>
        </p:nvSpPr>
        <p:spPr>
          <a:xfrm>
            <a:off x="466725" y="35623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KODEX KOFR금리액티브(합성</a:t>
            </a:r>
            <a:endParaRPr lang="ko-KR" sz="1100"/>
          </a:p>
        </p:txBody>
      </p:sp>
      <p:sp>
        <p:nvSpPr>
          <p:cNvPr id="68" name="Panel 68"/>
          <p:cNvSpPr/>
          <p:nvPr/>
        </p:nvSpPr>
        <p:spPr>
          <a:xfrm>
            <a:off x="2781300" y="34766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69" name="Text 69"/>
          <p:cNvSpPr txBox="1"/>
          <p:nvPr/>
        </p:nvSpPr>
        <p:spPr>
          <a:xfrm>
            <a:off x="2847975" y="35623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70" name="Panel 70"/>
          <p:cNvSpPr/>
          <p:nvPr/>
        </p:nvSpPr>
        <p:spPr>
          <a:xfrm>
            <a:off x="5876925" y="34766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5943600" y="35623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72" name="Panel 72"/>
          <p:cNvSpPr/>
          <p:nvPr/>
        </p:nvSpPr>
        <p:spPr>
          <a:xfrm>
            <a:off x="6924675" y="34766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3" name="Text 73"/>
          <p:cNvSpPr txBox="1"/>
          <p:nvPr/>
        </p:nvSpPr>
        <p:spPr>
          <a:xfrm>
            <a:off x="6991350" y="35623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74" name="Panel 74"/>
          <p:cNvSpPr/>
          <p:nvPr/>
        </p:nvSpPr>
        <p:spPr>
          <a:xfrm>
            <a:off x="8067675" y="34766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8134350" y="35623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76" name="Panel 76"/>
          <p:cNvSpPr/>
          <p:nvPr/>
        </p:nvSpPr>
        <p:spPr>
          <a:xfrm>
            <a:off x="9210675" y="34766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7" name="Text 77"/>
          <p:cNvSpPr txBox="1"/>
          <p:nvPr/>
        </p:nvSpPr>
        <p:spPr>
          <a:xfrm>
            <a:off x="9277350" y="35623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78" name="Panel 78"/>
          <p:cNvSpPr/>
          <p:nvPr/>
        </p:nvSpPr>
        <p:spPr>
          <a:xfrm>
            <a:off x="400050" y="38385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79" name="Text 79"/>
          <p:cNvSpPr txBox="1"/>
          <p:nvPr/>
        </p:nvSpPr>
        <p:spPr>
          <a:xfrm>
            <a:off x="466725" y="39243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RISE CD금리액티브(합성)</a:t>
            </a:r>
            <a:endParaRPr lang="ko-KR" sz="1100"/>
          </a:p>
        </p:txBody>
      </p:sp>
      <p:sp>
        <p:nvSpPr>
          <p:cNvPr id="80" name="Panel 80"/>
          <p:cNvSpPr/>
          <p:nvPr/>
        </p:nvSpPr>
        <p:spPr>
          <a:xfrm>
            <a:off x="2781300" y="38385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1" name="Text 81"/>
          <p:cNvSpPr txBox="1"/>
          <p:nvPr/>
        </p:nvSpPr>
        <p:spPr>
          <a:xfrm>
            <a:off x="2847975" y="39243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82" name="Panel 82"/>
          <p:cNvSpPr/>
          <p:nvPr/>
        </p:nvSpPr>
        <p:spPr>
          <a:xfrm>
            <a:off x="5876925" y="38385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3" name="Text 83"/>
          <p:cNvSpPr txBox="1"/>
          <p:nvPr/>
        </p:nvSpPr>
        <p:spPr>
          <a:xfrm>
            <a:off x="5943600" y="39243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84" name="Panel 84"/>
          <p:cNvSpPr/>
          <p:nvPr/>
        </p:nvSpPr>
        <p:spPr>
          <a:xfrm>
            <a:off x="6924675" y="38385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5" name="Text 85"/>
          <p:cNvSpPr txBox="1"/>
          <p:nvPr/>
        </p:nvSpPr>
        <p:spPr>
          <a:xfrm>
            <a:off x="6991350" y="39243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86" name="Panel 86"/>
          <p:cNvSpPr/>
          <p:nvPr/>
        </p:nvSpPr>
        <p:spPr>
          <a:xfrm>
            <a:off x="8067675" y="38385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7" name="Text 87"/>
          <p:cNvSpPr txBox="1"/>
          <p:nvPr/>
        </p:nvSpPr>
        <p:spPr>
          <a:xfrm>
            <a:off x="8134350" y="39243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88" name="Panel 88"/>
          <p:cNvSpPr/>
          <p:nvPr/>
        </p:nvSpPr>
        <p:spPr>
          <a:xfrm>
            <a:off x="9210675" y="38385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89" name="Text 89"/>
          <p:cNvSpPr txBox="1"/>
          <p:nvPr/>
        </p:nvSpPr>
        <p:spPr>
          <a:xfrm>
            <a:off x="9277350" y="39243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90" name="Panel 90"/>
          <p:cNvSpPr/>
          <p:nvPr/>
        </p:nvSpPr>
        <p:spPr>
          <a:xfrm>
            <a:off x="400050" y="42005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1" name="Text 91"/>
          <p:cNvSpPr txBox="1"/>
          <p:nvPr/>
        </p:nvSpPr>
        <p:spPr>
          <a:xfrm>
            <a:off x="466725" y="42862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RISE KOFR금리액티브(합성)</a:t>
            </a:r>
            <a:endParaRPr lang="ko-KR" sz="1100"/>
          </a:p>
        </p:txBody>
      </p:sp>
      <p:sp>
        <p:nvSpPr>
          <p:cNvPr id="92" name="Panel 92"/>
          <p:cNvSpPr/>
          <p:nvPr/>
        </p:nvSpPr>
        <p:spPr>
          <a:xfrm>
            <a:off x="2781300" y="42005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3" name="Text 93"/>
          <p:cNvSpPr txBox="1"/>
          <p:nvPr/>
        </p:nvSpPr>
        <p:spPr>
          <a:xfrm>
            <a:off x="2847975" y="42862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94" name="Panel 94"/>
          <p:cNvSpPr/>
          <p:nvPr/>
        </p:nvSpPr>
        <p:spPr>
          <a:xfrm>
            <a:off x="5876925" y="42005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5" name="Text 95"/>
          <p:cNvSpPr txBox="1"/>
          <p:nvPr/>
        </p:nvSpPr>
        <p:spPr>
          <a:xfrm>
            <a:off x="5943600" y="42862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96" name="Panel 96"/>
          <p:cNvSpPr/>
          <p:nvPr/>
        </p:nvSpPr>
        <p:spPr>
          <a:xfrm>
            <a:off x="6924675" y="42005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7" name="Text 97"/>
          <p:cNvSpPr txBox="1"/>
          <p:nvPr/>
        </p:nvSpPr>
        <p:spPr>
          <a:xfrm>
            <a:off x="6991350" y="42862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98" name="Panel 98"/>
          <p:cNvSpPr/>
          <p:nvPr/>
        </p:nvSpPr>
        <p:spPr>
          <a:xfrm>
            <a:off x="8067675" y="42005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99" name="Text 99"/>
          <p:cNvSpPr txBox="1"/>
          <p:nvPr/>
        </p:nvSpPr>
        <p:spPr>
          <a:xfrm>
            <a:off x="8134350" y="42862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100" name="Panel 100"/>
          <p:cNvSpPr/>
          <p:nvPr/>
        </p:nvSpPr>
        <p:spPr>
          <a:xfrm>
            <a:off x="9210675" y="42005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1" name="Text 101"/>
          <p:cNvSpPr txBox="1"/>
          <p:nvPr/>
        </p:nvSpPr>
        <p:spPr>
          <a:xfrm>
            <a:off x="9277350" y="42862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102" name="Panel 102"/>
          <p:cNvSpPr/>
          <p:nvPr/>
        </p:nvSpPr>
        <p:spPr>
          <a:xfrm>
            <a:off x="400050" y="45624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3" name="Text 103"/>
          <p:cNvSpPr txBox="1"/>
          <p:nvPr/>
        </p:nvSpPr>
        <p:spPr>
          <a:xfrm>
            <a:off x="466725" y="46482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TIGER CD1년금리액티브(합성</a:t>
            </a:r>
            <a:endParaRPr lang="ko-KR" sz="1100"/>
          </a:p>
        </p:txBody>
      </p:sp>
      <p:sp>
        <p:nvSpPr>
          <p:cNvPr id="104" name="Panel 104"/>
          <p:cNvSpPr/>
          <p:nvPr/>
        </p:nvSpPr>
        <p:spPr>
          <a:xfrm>
            <a:off x="2781300" y="45624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5" name="Text 105"/>
          <p:cNvSpPr txBox="1"/>
          <p:nvPr/>
        </p:nvSpPr>
        <p:spPr>
          <a:xfrm>
            <a:off x="2847975" y="46482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106" name="Panel 106"/>
          <p:cNvSpPr/>
          <p:nvPr/>
        </p:nvSpPr>
        <p:spPr>
          <a:xfrm>
            <a:off x="5876925" y="45624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7" name="Text 107"/>
          <p:cNvSpPr txBox="1"/>
          <p:nvPr/>
        </p:nvSpPr>
        <p:spPr>
          <a:xfrm>
            <a:off x="5943600" y="46482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108" name="Panel 108"/>
          <p:cNvSpPr/>
          <p:nvPr/>
        </p:nvSpPr>
        <p:spPr>
          <a:xfrm>
            <a:off x="6924675" y="45624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09" name="Text 109"/>
          <p:cNvSpPr txBox="1"/>
          <p:nvPr/>
        </p:nvSpPr>
        <p:spPr>
          <a:xfrm>
            <a:off x="6991350" y="46482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110" name="Panel 110"/>
          <p:cNvSpPr/>
          <p:nvPr/>
        </p:nvSpPr>
        <p:spPr>
          <a:xfrm>
            <a:off x="8067675" y="45624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1" name="Text 111"/>
          <p:cNvSpPr txBox="1"/>
          <p:nvPr/>
        </p:nvSpPr>
        <p:spPr>
          <a:xfrm>
            <a:off x="8134350" y="46482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112" name="Panel 112"/>
          <p:cNvSpPr/>
          <p:nvPr/>
        </p:nvSpPr>
        <p:spPr>
          <a:xfrm>
            <a:off x="9210675" y="45624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3" name="Text 113"/>
          <p:cNvSpPr txBox="1"/>
          <p:nvPr/>
        </p:nvSpPr>
        <p:spPr>
          <a:xfrm>
            <a:off x="9277350" y="46482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114" name="Panel 114"/>
          <p:cNvSpPr/>
          <p:nvPr/>
        </p:nvSpPr>
        <p:spPr>
          <a:xfrm>
            <a:off x="400050" y="4924425"/>
            <a:ext cx="23812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5" name="Text 115"/>
          <p:cNvSpPr txBox="1"/>
          <p:nvPr/>
        </p:nvSpPr>
        <p:spPr>
          <a:xfrm>
            <a:off x="466725" y="50101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TIGER CD금리플러스액티브(합</a:t>
            </a:r>
            <a:endParaRPr lang="ko-KR" sz="1100"/>
          </a:p>
        </p:txBody>
      </p:sp>
      <p:sp>
        <p:nvSpPr>
          <p:cNvPr id="116" name="Panel 116"/>
          <p:cNvSpPr/>
          <p:nvPr/>
        </p:nvSpPr>
        <p:spPr>
          <a:xfrm>
            <a:off x="2781300" y="4924425"/>
            <a:ext cx="309562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7" name="Text 117"/>
          <p:cNvSpPr txBox="1"/>
          <p:nvPr/>
        </p:nvSpPr>
        <p:spPr>
          <a:xfrm>
            <a:off x="2847975" y="501015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118" name="Panel 118"/>
          <p:cNvSpPr/>
          <p:nvPr/>
        </p:nvSpPr>
        <p:spPr>
          <a:xfrm>
            <a:off x="5876925" y="4924425"/>
            <a:ext cx="104775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19" name="Text 119"/>
          <p:cNvSpPr txBox="1"/>
          <p:nvPr/>
        </p:nvSpPr>
        <p:spPr>
          <a:xfrm>
            <a:off x="5943600" y="50101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120" name="Panel 120"/>
          <p:cNvSpPr/>
          <p:nvPr/>
        </p:nvSpPr>
        <p:spPr>
          <a:xfrm>
            <a:off x="6924675" y="49244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1" name="Text 121"/>
          <p:cNvSpPr txBox="1"/>
          <p:nvPr/>
        </p:nvSpPr>
        <p:spPr>
          <a:xfrm>
            <a:off x="6991350" y="50101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122" name="Panel 122"/>
          <p:cNvSpPr/>
          <p:nvPr/>
        </p:nvSpPr>
        <p:spPr>
          <a:xfrm>
            <a:off x="8067675" y="4924425"/>
            <a:ext cx="1143000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3" name="Text 123"/>
          <p:cNvSpPr txBox="1"/>
          <p:nvPr/>
        </p:nvSpPr>
        <p:spPr>
          <a:xfrm>
            <a:off x="8134350" y="50101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124" name="Panel 124"/>
          <p:cNvSpPr/>
          <p:nvPr/>
        </p:nvSpPr>
        <p:spPr>
          <a:xfrm>
            <a:off x="9210675" y="4924425"/>
            <a:ext cx="1285875" cy="361950"/>
          </a:xfrm>
          <a:prstGeom prst="rect">
            <a:avLst/>
          </a:prstGeom>
          <a:solidFill>
            <a:srgbClr val="0B0E12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5" name="Text 125"/>
          <p:cNvSpPr txBox="1"/>
          <p:nvPr/>
        </p:nvSpPr>
        <p:spPr>
          <a:xfrm>
            <a:off x="9277350" y="501015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  <p:sp>
        <p:nvSpPr>
          <p:cNvPr id="126" name="Panel 126"/>
          <p:cNvSpPr/>
          <p:nvPr/>
        </p:nvSpPr>
        <p:spPr>
          <a:xfrm>
            <a:off x="400050" y="5286375"/>
            <a:ext cx="23812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7" name="Text 127"/>
          <p:cNvSpPr txBox="1"/>
          <p:nvPr/>
        </p:nvSpPr>
        <p:spPr>
          <a:xfrm>
            <a:off x="466725" y="53721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TIGER KOFR금리액티브(합성</a:t>
            </a:r>
            <a:endParaRPr lang="ko-KR" sz="1100"/>
          </a:p>
        </p:txBody>
      </p:sp>
      <p:sp>
        <p:nvSpPr>
          <p:cNvPr id="128" name="Panel 128"/>
          <p:cNvSpPr/>
          <p:nvPr/>
        </p:nvSpPr>
        <p:spPr>
          <a:xfrm>
            <a:off x="2781300" y="5286375"/>
            <a:ext cx="309562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29" name="Text 129"/>
          <p:cNvSpPr txBox="1"/>
          <p:nvPr/>
        </p:nvSpPr>
        <p:spPr>
          <a:xfrm>
            <a:off x="2847975" y="5372100"/>
            <a:ext cx="296227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감소 원화현금</a:t>
            </a:r>
            <a:endParaRPr lang="ko-KR" sz="1100"/>
          </a:p>
        </p:txBody>
      </p:sp>
      <p:sp>
        <p:nvSpPr>
          <p:cNvPr id="130" name="Panel 130"/>
          <p:cNvSpPr/>
          <p:nvPr/>
        </p:nvSpPr>
        <p:spPr>
          <a:xfrm>
            <a:off x="5876925" y="5286375"/>
            <a:ext cx="104775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1" name="Text 131"/>
          <p:cNvSpPr txBox="1"/>
          <p:nvPr/>
        </p:nvSpPr>
        <p:spPr>
          <a:xfrm>
            <a:off x="5943600" y="53721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010010</a:t>
            </a:r>
            <a:endParaRPr lang="ko-KR" sz="1100"/>
          </a:p>
        </p:txBody>
      </p:sp>
      <p:sp>
        <p:nvSpPr>
          <p:cNvPr id="132" name="Panel 132"/>
          <p:cNvSpPr/>
          <p:nvPr/>
        </p:nvSpPr>
        <p:spPr>
          <a:xfrm>
            <a:off x="6924675" y="52863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3" name="Text 133"/>
          <p:cNvSpPr txBox="1"/>
          <p:nvPr/>
        </p:nvSpPr>
        <p:spPr>
          <a:xfrm>
            <a:off x="6991350" y="53721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100.00%</a:t>
            </a:r>
            <a:endParaRPr lang="ko-KR" sz="1100"/>
          </a:p>
        </p:txBody>
      </p:sp>
      <p:sp>
        <p:nvSpPr>
          <p:cNvPr id="134" name="Panel 134"/>
          <p:cNvSpPr/>
          <p:nvPr/>
        </p:nvSpPr>
        <p:spPr>
          <a:xfrm>
            <a:off x="8067675" y="5286375"/>
            <a:ext cx="1143000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5" name="Text 135"/>
          <p:cNvSpPr txBox="1"/>
          <p:nvPr/>
        </p:nvSpPr>
        <p:spPr>
          <a:xfrm>
            <a:off x="8134350" y="537210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>
                <a:solidFill>
                  <a:srgbClr val="F2F5F8"/>
                </a:solidFill>
                <a:latin typeface="Malgun Gothic"/>
                <a:ea typeface="Malgun Gothic"/>
              </a:rPr>
              <a:t>-</a:t>
            </a:r>
            <a:endParaRPr lang="ko-KR" sz="1100"/>
          </a:p>
        </p:txBody>
      </p:sp>
      <p:sp>
        <p:nvSpPr>
          <p:cNvPr id="136" name="Panel 136"/>
          <p:cNvSpPr/>
          <p:nvPr/>
        </p:nvSpPr>
        <p:spPr>
          <a:xfrm>
            <a:off x="9210675" y="5286375"/>
            <a:ext cx="1285875" cy="36195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/>
          <a:lstStyle/>
          <a:p/>
        </p:txBody>
      </p:sp>
      <p:sp>
        <p:nvSpPr>
          <p:cNvPr id="137" name="Text 137"/>
          <p:cNvSpPr txBox="1"/>
          <p:nvPr/>
        </p:nvSpPr>
        <p:spPr>
          <a:xfrm>
            <a:off x="9277350" y="5372100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1100" b="1">
                <a:solidFill>
                  <a:srgbClr val="FF4D5E"/>
                </a:solidFill>
                <a:latin typeface="Malgun Gothic"/>
                <a:ea typeface="Malgun Gothic"/>
              </a:rPr>
              <a:t>-100.00pp</a:t>
            </a:r>
            <a:endParaRPr lang="ko-KR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3850" y="190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00" b="1">
                <a:solidFill>
                  <a:srgbClr val="F5B301"/>
                </a:solidFill>
                <a:latin typeface="Malgun Gothic"/>
                <a:ea typeface="Malgun Gothic"/>
              </a:rPr>
              <a:t>CLIENT BRIEF</a:t>
            </a:r>
            <a:endParaRPr lang="ko-KR" sz="1300"/>
          </a:p>
        </p:txBody>
      </p:sp>
      <p:sp>
        <p:nvSpPr>
          <p:cNvPr id="3" name="Text 3"/>
          <p:cNvSpPr txBox="1"/>
          <p:nvPr/>
        </p:nvSpPr>
        <p:spPr>
          <a:xfrm>
            <a:off x="323850" y="476250"/>
            <a:ext cx="93345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b="1">
                <a:solidFill>
                  <a:srgbClr val="F2F5F8"/>
                </a:solidFill>
                <a:latin typeface="Malgun Gothic"/>
                <a:ea typeface="Malgun Gothic"/>
              </a:rPr>
              <a:t>손님에게 이렇게 보여주세요</a:t>
            </a:r>
            <a:endParaRPr lang="ko-KR" sz="3000"/>
          </a:p>
        </p:txBody>
      </p:sp>
      <p:sp>
        <p:nvSpPr>
          <p:cNvPr id="4" name="Text 4"/>
          <p:cNvSpPr txBox="1"/>
          <p:nvPr/>
        </p:nvSpPr>
        <p:spPr>
          <a:xfrm>
            <a:off x="342900" y="108585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00">
                <a:solidFill>
                  <a:srgbClr val="9AA6B2"/>
                </a:solidFill>
                <a:latin typeface="Malgun Gothic"/>
                <a:ea typeface="Malgun Gothic"/>
              </a:rPr>
              <a:t>짧고 세게 읽히는 요약</a:t>
            </a:r>
            <a:endParaRPr lang="ko-KR" sz="1500"/>
          </a:p>
        </p:txBody>
      </p:sp>
      <p:sp>
        <p:nvSpPr>
          <p:cNvPr id="5" name="Panel 5"/>
          <p:cNvSpPr/>
          <p:nvPr/>
        </p:nvSpPr>
        <p:spPr>
          <a:xfrm>
            <a:off x="323850" y="1428750"/>
            <a:ext cx="11525250" cy="19050"/>
          </a:xfrm>
          <a:prstGeom prst="rect">
            <a:avLst/>
          </a:prstGeom>
          <a:solidFill>
            <a:srgbClr val="F5B301"/>
          </a:solidFill>
          <a:ln w="9525">
            <a:solidFill>
              <a:srgbClr val="F5B301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4850" y="1790700"/>
            <a:ext cx="10572750" cy="2286000"/>
          </a:xfrm>
          <a:prstGeom prst="rect">
            <a:avLst/>
          </a:prstGeom>
          <a:solidFill>
            <a:srgbClr val="101318"/>
          </a:solidFill>
          <a:ln w="9525">
            <a:solidFill>
              <a:srgbClr val="2A3038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2400" b="1">
                <a:solidFill>
                  <a:srgbClr val="F2F5F8"/>
                </a:solidFill>
                <a:latin typeface="Malgun Gothic"/>
                <a:ea typeface="Malgun Gothic"/>
              </a:rPr>
              <a:t>1. 오늘 변화 ETF는 252개, 전체 변화는 20877건입니다.</a:t>
            </a:r>
            <a:endParaRPr lang="ko-KR" sz="2400"/>
          </a:p>
          <a:p>
            <a:pPr algn="l"/>
            <a:r>
              <a:rPr lang="ko-KR" sz="2400" b="1">
                <a:solidFill>
                  <a:srgbClr val="F2F5F8"/>
                </a:solidFill>
                <a:latin typeface="Malgun Gothic"/>
                <a:ea typeface="Malgun Gothic"/>
              </a:rPr>
              <a:t>2. 매수/비중증가 107건, 매도/비중감소 2301건을 확인했습니다.</a:t>
            </a:r>
            <a:endParaRPr lang="ko-KR" sz="2400"/>
          </a:p>
          <a:p>
            <a:pPr algn="l"/>
            <a:r>
              <a:rPr lang="ko-KR" sz="2400" b="1">
                <a:solidFill>
                  <a:srgbClr val="F2F5F8"/>
                </a:solidFill>
                <a:latin typeface="Malgun Gothic"/>
                <a:ea typeface="Malgun Gothic"/>
              </a:rPr>
              <a:t>3. 상위 종목은 보유종목 변화의 방향성을 보는 체크포인트입니다.</a:t>
            </a:r>
            <a:endParaRPr lang="ko-KR" sz="2400"/>
          </a:p>
          <a:p>
            <a:pPr algn="l"/>
            <a:r>
              <a:rPr lang="ko-KR" sz="2400" b="1">
                <a:solidFill>
                  <a:srgbClr val="F2F5F8"/>
                </a:solidFill>
                <a:latin typeface="Malgun Gothic"/>
                <a:ea typeface="Malgun Gothic"/>
              </a:rPr>
              <a:t>4. 전체 상세 내역은 HTML 대쉬보드에서 ETF별로 검색하면 됩니다.</a:t>
            </a:r>
            <a:endParaRPr lang="ko-KR" sz="2400"/>
          </a:p>
        </p:txBody>
      </p:sp>
      <p:sp>
        <p:nvSpPr>
          <p:cNvPr id="7" name="Text 7"/>
          <p:cNvSpPr txBox="1"/>
          <p:nvPr/>
        </p:nvSpPr>
        <p:spPr>
          <a:xfrm>
            <a:off x="704850" y="4572000"/>
            <a:ext cx="105727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700">
                <a:solidFill>
                  <a:srgbClr val="9AA6B2"/>
                </a:solidFill>
                <a:latin typeface="Malgun Gothic"/>
                <a:ea typeface="Malgun Gothic"/>
              </a:rPr>
              <a:t>자극적으로 보이지만, 내용은 오직 KRX PDF 데이터 변화 기록입니다. 투자판단은 별도의 상담과 함께 하세요.</a:t>
            </a:r>
            <a:endParaRPr lang="ko-KR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F Terminal">
  <a:themeElements>
    <a:clrScheme name="ETF Terminal">
      <a:dk1>
        <a:srgbClr val="050608"/>
      </a:dk1>
      <a:lt1>
        <a:srgbClr val="F2F5F8"/>
      </a:lt1>
      <a:dk2>
        <a:srgbClr val="101318"/>
      </a:dk2>
      <a:lt2>
        <a:srgbClr val="9AA6B2"/>
      </a:lt2>
      <a:accent1>
        <a:srgbClr val="F5B301"/>
      </a:accent1>
      <a:accent2>
        <a:srgbClr val="19C37D"/>
      </a:accent2>
      <a:accent3>
        <a:srgbClr val="FF4D5E"/>
      </a:accent3>
      <a:accent4>
        <a:srgbClr val="3DD6E8"/>
      </a:accent4>
      <a:accent5>
        <a:srgbClr val="2A3038"/>
      </a:accent5>
      <a:accent6>
        <a:srgbClr val="FFFFFF"/>
      </a:accent6>
      <a:hlink>
        <a:srgbClr val="3DD6E8"/>
      </a:hlink>
      <a:folHlink>
        <a:srgbClr val="F5B301"/>
      </a:folHlink>
    </a:clrScheme>
    <a:fontScheme name="ETF Font">
      <a:majorFont>
        <a:latin typeface="Malgun Gothic"/>
        <a:ea typeface="Malgun Gothic"/>
      </a:majorFont>
      <a:minorFont>
        <a:latin typeface="Malgun Gothic"/>
        <a:ea typeface="Malgun Gothic"/>
      </a:minorFont>
    </a:fontScheme>
    <a:fmtScheme name="ETF">
      <a:fillStyleLst>
        <a:solidFill>
          <a:schemeClr val="accent1"/>
        </a:solidFill>
      </a:fillStyleLst>
      <a:lnStyleLst>
        <a:ln w="9525">
          <a:solidFill>
            <a:schemeClr val="accent5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유진증권 안상현 센터장의 ETF 변동율 체크 보고서</dc:title>
  <dc:creator>ETF KRX Monitor</dc:creator>
  <cp:lastModifiedBy>ETF KRX Monitor</cp:lastModifiedBy>
  <dcterms:created xsi:type="dcterms:W3CDTF">2026-04-22T09:23:59+09:00</dcterms:created>
  <dcterms:modified xsi:type="dcterms:W3CDTF">2026-04-22T09:23:59+09:00</dcterms:modified>
</cp:coreProperties>
</file>